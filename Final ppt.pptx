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3" r:id="rId4"/>
  </p:sldMasterIdLst>
  <p:notesMasterIdLst>
    <p:notesMasterId r:id="rId38"/>
  </p:notesMasterIdLst>
  <p:handoutMasterIdLst>
    <p:handoutMasterId r:id="rId39"/>
  </p:handoutMasterIdLst>
  <p:sldIdLst>
    <p:sldId id="257" r:id="rId5"/>
    <p:sldId id="262" r:id="rId6"/>
    <p:sldId id="258" r:id="rId7"/>
    <p:sldId id="263" r:id="rId8"/>
    <p:sldId id="278" r:id="rId9"/>
    <p:sldId id="260" r:id="rId10"/>
    <p:sldId id="264" r:id="rId11"/>
    <p:sldId id="265" r:id="rId12"/>
    <p:sldId id="266" r:id="rId13"/>
    <p:sldId id="267" r:id="rId14"/>
    <p:sldId id="268" r:id="rId15"/>
    <p:sldId id="277" r:id="rId16"/>
    <p:sldId id="271" r:id="rId17"/>
    <p:sldId id="272" r:id="rId18"/>
    <p:sldId id="273" r:id="rId19"/>
    <p:sldId id="274" r:id="rId20"/>
    <p:sldId id="275" r:id="rId21"/>
    <p:sldId id="305" r:id="rId22"/>
    <p:sldId id="279" r:id="rId23"/>
    <p:sldId id="280" r:id="rId24"/>
    <p:sldId id="281" r:id="rId25"/>
    <p:sldId id="282" r:id="rId26"/>
    <p:sldId id="283" r:id="rId27"/>
    <p:sldId id="306" r:id="rId28"/>
    <p:sldId id="307" r:id="rId29"/>
    <p:sldId id="287" r:id="rId30"/>
    <p:sldId id="288" r:id="rId31"/>
    <p:sldId id="290" r:id="rId32"/>
    <p:sldId id="308" r:id="rId33"/>
    <p:sldId id="294" r:id="rId34"/>
    <p:sldId id="301" r:id="rId35"/>
    <p:sldId id="302" r:id="rId36"/>
    <p:sldId id="270"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11F8B8-081F-4C34-AFCC-1AC05E9C4BCD}" v="294" dt="2025-04-18T17:30:12.706"/>
  </p1510:revLst>
</p1510:revInfo>
</file>

<file path=ppt/tableStyles.xml><?xml version="1.0" encoding="utf-8"?>
<a:tblStyleLst xmlns:a="http://schemas.openxmlformats.org/drawingml/2006/main" def="{5C22544A-7EE6-4342-B048-85BDC9FD1C3A}">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13" autoAdjust="0"/>
    <p:restoredTop sz="94704" autoAdjust="0"/>
  </p:normalViewPr>
  <p:slideViewPr>
    <p:cSldViewPr snapToGrid="0">
      <p:cViewPr varScale="1">
        <p:scale>
          <a:sx n="59" d="100"/>
          <a:sy n="59" d="100"/>
        </p:scale>
        <p:origin x="988" y="52"/>
      </p:cViewPr>
      <p:guideLst>
        <p:guide orient="horz" pos="2160"/>
        <p:guide pos="3840"/>
      </p:guideLst>
    </p:cSldViewPr>
  </p:slideViewPr>
  <p:notesTextViewPr>
    <p:cViewPr>
      <p:scale>
        <a:sx n="1" d="1"/>
        <a:sy n="1" d="1"/>
      </p:scale>
      <p:origin x="0" y="0"/>
    </p:cViewPr>
  </p:notesTextViewPr>
  <p:sorterViewPr>
    <p:cViewPr>
      <p:scale>
        <a:sx n="66" d="100"/>
        <a:sy n="66" d="100"/>
      </p:scale>
      <p:origin x="0" y="3546"/>
    </p:cViewPr>
  </p:sorterViewPr>
  <p:notesViewPr>
    <p:cSldViewPr snapToGrid="0" showGuides="1">
      <p:cViewPr varScale="1">
        <p:scale>
          <a:sx n="79" d="100"/>
          <a:sy n="79" d="100"/>
        </p:scale>
        <p:origin x="2346" y="9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ik Kalamuddin" userId="b50ce31f5c7d1a72" providerId="LiveId" clId="{8203B504-C22F-4074-B112-CCE1AA1F9261}"/>
    <pc:docChg chg="undo custSel modSld">
      <pc:chgData name="shaik Kalamuddin" userId="b50ce31f5c7d1a72" providerId="LiveId" clId="{8203B504-C22F-4074-B112-CCE1AA1F9261}" dt="2025-04-18T17:50:35.145" v="3" actId="1076"/>
      <pc:docMkLst>
        <pc:docMk/>
      </pc:docMkLst>
      <pc:sldChg chg="modSp mod">
        <pc:chgData name="shaik Kalamuddin" userId="b50ce31f5c7d1a72" providerId="LiveId" clId="{8203B504-C22F-4074-B112-CCE1AA1F9261}" dt="2025-04-18T17:46:13.045" v="1" actId="1076"/>
        <pc:sldMkLst>
          <pc:docMk/>
          <pc:sldMk cId="486395581" sldId="306"/>
        </pc:sldMkLst>
        <pc:spChg chg="mod">
          <ac:chgData name="shaik Kalamuddin" userId="b50ce31f5c7d1a72" providerId="LiveId" clId="{8203B504-C22F-4074-B112-CCE1AA1F9261}" dt="2025-04-18T17:46:13.045" v="1" actId="1076"/>
          <ac:spMkLst>
            <pc:docMk/>
            <pc:sldMk cId="486395581" sldId="306"/>
            <ac:spMk id="7" creationId="{FB333157-6347-8496-97A4-053B78A4E049}"/>
          </ac:spMkLst>
        </pc:spChg>
      </pc:sldChg>
      <pc:sldChg chg="modSp mod">
        <pc:chgData name="shaik Kalamuddin" userId="b50ce31f5c7d1a72" providerId="LiveId" clId="{8203B504-C22F-4074-B112-CCE1AA1F9261}" dt="2025-04-18T17:50:35.145" v="3" actId="1076"/>
        <pc:sldMkLst>
          <pc:docMk/>
          <pc:sldMk cId="466959854" sldId="307"/>
        </pc:sldMkLst>
        <pc:spChg chg="mod">
          <ac:chgData name="shaik Kalamuddin" userId="b50ce31f5c7d1a72" providerId="LiveId" clId="{8203B504-C22F-4074-B112-CCE1AA1F9261}" dt="2025-04-18T17:50:35.145" v="3" actId="1076"/>
          <ac:spMkLst>
            <pc:docMk/>
            <pc:sldMk cId="466959854" sldId="307"/>
            <ac:spMk id="2" creationId="{DD605ED3-DC37-87AC-5B91-DD2A9007FEE3}"/>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3DC2751-278C-4682-9C3F-0FF7B4FCFAE7}" type="datetimeFigureOut">
              <a:rPr lang="en-US" smtClean="0"/>
              <a:pPr/>
              <a:t>7/30/2026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E286890-466E-41CD-A28A-B1EBDF22CA33}" type="slidenum">
              <a:rPr lang="en-US" smtClean="0"/>
              <a:pPr/>
              <a:t>‹#›</a:t>
            </a:fld>
            <a:endParaRPr lang="en-US" dirty="0"/>
          </a:p>
        </p:txBody>
      </p:sp>
    </p:spTree>
    <p:extLst>
      <p:ext uri="{BB962C8B-B14F-4D97-AF65-F5344CB8AC3E}">
        <p14:creationId xmlns:p14="http://schemas.microsoft.com/office/powerpoint/2010/main" val="15862942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FF0845-D09E-4AF9-9623-EA7EA0297EF3}" type="datetimeFigureOut">
              <a:rPr lang="en-US" smtClean="0"/>
              <a:pPr/>
              <a:t>7/30/2026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7CD11A-EED3-40CE-98A3-28FEE84867B3}" type="slidenum">
              <a:rPr lang="en-US" smtClean="0"/>
              <a:pPr/>
              <a:t>‹#›</a:t>
            </a:fld>
            <a:endParaRPr lang="en-US" dirty="0"/>
          </a:p>
        </p:txBody>
      </p:sp>
    </p:spTree>
    <p:extLst>
      <p:ext uri="{BB962C8B-B14F-4D97-AF65-F5344CB8AC3E}">
        <p14:creationId xmlns:p14="http://schemas.microsoft.com/office/powerpoint/2010/main" val="1995761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7CD11A-EED3-40CE-98A3-28FEE84867B3}" type="slidenum">
              <a:rPr lang="en-US" smtClean="0"/>
              <a:pPr/>
              <a:t>1</a:t>
            </a:fld>
            <a:endParaRPr lang="en-US" dirty="0"/>
          </a:p>
        </p:txBody>
      </p:sp>
    </p:spTree>
    <p:extLst>
      <p:ext uri="{BB962C8B-B14F-4D97-AF65-F5344CB8AC3E}">
        <p14:creationId xmlns:p14="http://schemas.microsoft.com/office/powerpoint/2010/main" val="24911602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27CD11A-EED3-40CE-98A3-28FEE84867B3}" type="slidenum">
              <a:rPr lang="en-US" smtClean="0"/>
              <a:pPr/>
              <a:t>3</a:t>
            </a:fld>
            <a:endParaRPr lang="en-US" dirty="0"/>
          </a:p>
        </p:txBody>
      </p:sp>
    </p:spTree>
    <p:extLst>
      <p:ext uri="{BB962C8B-B14F-4D97-AF65-F5344CB8AC3E}">
        <p14:creationId xmlns:p14="http://schemas.microsoft.com/office/powerpoint/2010/main" val="40160019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27CD11A-EED3-40CE-98A3-28FEE84867B3}" type="slidenum">
              <a:rPr lang="en-US" smtClean="0"/>
              <a:pPr/>
              <a:t>4</a:t>
            </a:fld>
            <a:endParaRPr lang="en-US" dirty="0"/>
          </a:p>
        </p:txBody>
      </p:sp>
    </p:spTree>
    <p:extLst>
      <p:ext uri="{BB962C8B-B14F-4D97-AF65-F5344CB8AC3E}">
        <p14:creationId xmlns:p14="http://schemas.microsoft.com/office/powerpoint/2010/main" val="38328489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27CD11A-EED3-40CE-98A3-28FEE84867B3}" type="slidenum">
              <a:rPr lang="en-US" smtClean="0"/>
              <a:pPr/>
              <a:t>8</a:t>
            </a:fld>
            <a:endParaRPr lang="en-US" dirty="0"/>
          </a:p>
        </p:txBody>
      </p:sp>
    </p:spTree>
    <p:extLst>
      <p:ext uri="{BB962C8B-B14F-4D97-AF65-F5344CB8AC3E}">
        <p14:creationId xmlns:p14="http://schemas.microsoft.com/office/powerpoint/2010/main" val="565769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27CD11A-EED3-40CE-98A3-28FEE84867B3}" type="slidenum">
              <a:rPr lang="en-US" smtClean="0"/>
              <a:pPr/>
              <a:t>21</a:t>
            </a:fld>
            <a:endParaRPr lang="en-US" dirty="0"/>
          </a:p>
        </p:txBody>
      </p:sp>
    </p:spTree>
    <p:extLst>
      <p:ext uri="{BB962C8B-B14F-4D97-AF65-F5344CB8AC3E}">
        <p14:creationId xmlns:p14="http://schemas.microsoft.com/office/powerpoint/2010/main" val="11864347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409693A-2307-4FDC-9539-08DC9083DDED}" type="datetime1">
              <a:rPr lang="en-US" smtClean="0"/>
              <a:pPr/>
              <a:t>7/30/2026</a:t>
            </a:fld>
            <a:endParaRPr lang="en-US" dirty="0"/>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6" name="Slide Number Placeholder 5"/>
          <p:cNvSpPr>
            <a:spLocks noGrp="1"/>
          </p:cNvSpPr>
          <p:nvPr>
            <p:ph type="sldNum" sz="quarter" idx="12"/>
          </p:nvPr>
        </p:nvSpPr>
        <p:spPr/>
        <p:txBody>
          <a:bodyPr/>
          <a:lstStyle/>
          <a:p>
            <a:fld id="{E5B29C50-D6F1-4DB6-9B68-F4CD3996E9CF}" type="slidenum">
              <a:rPr lang="en-US" smtClean="0"/>
              <a:pPr/>
              <a:t>‹#›</a:t>
            </a:fld>
            <a:endParaRPr lang="en-US" dirty="0"/>
          </a:p>
        </p:txBody>
      </p:sp>
    </p:spTree>
    <p:extLst>
      <p:ext uri="{BB962C8B-B14F-4D97-AF65-F5344CB8AC3E}">
        <p14:creationId xmlns:p14="http://schemas.microsoft.com/office/powerpoint/2010/main" val="15632233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20E1C1-C26F-4479-A8BD-144B4C139DA5}" type="datetime1">
              <a:rPr lang="en-US" smtClean="0"/>
              <a:pPr/>
              <a:t>7/30/2026</a:t>
            </a:fld>
            <a:endParaRPr lang="en-US" dirty="0"/>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6" name="Slide Number Placeholder 5"/>
          <p:cNvSpPr>
            <a:spLocks noGrp="1"/>
          </p:cNvSpPr>
          <p:nvPr>
            <p:ph type="sldNum" sz="quarter" idx="12"/>
          </p:nvPr>
        </p:nvSpPr>
        <p:spPr/>
        <p:txBody>
          <a:bodyPr/>
          <a:lstStyle/>
          <a:p>
            <a:fld id="{E5B29C50-D6F1-4DB6-9B68-F4CD3996E9CF}" type="slidenum">
              <a:rPr lang="en-US" smtClean="0"/>
              <a:pPr/>
              <a:t>‹#›</a:t>
            </a:fld>
            <a:endParaRPr lang="en-US" dirty="0"/>
          </a:p>
        </p:txBody>
      </p:sp>
    </p:spTree>
    <p:extLst>
      <p:ext uri="{BB962C8B-B14F-4D97-AF65-F5344CB8AC3E}">
        <p14:creationId xmlns:p14="http://schemas.microsoft.com/office/powerpoint/2010/main" val="40223994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519E61-C2D6-49AB-83F2-8FC9FEFBDAFD}" type="datetime1">
              <a:rPr lang="en-US" smtClean="0"/>
              <a:pPr/>
              <a:t>7/30/2026</a:t>
            </a:fld>
            <a:endParaRPr lang="en-US" dirty="0"/>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6" name="Slide Number Placeholder 5"/>
          <p:cNvSpPr>
            <a:spLocks noGrp="1"/>
          </p:cNvSpPr>
          <p:nvPr>
            <p:ph type="sldNum" sz="quarter" idx="12"/>
          </p:nvPr>
        </p:nvSpPr>
        <p:spPr/>
        <p:txBody>
          <a:bodyPr/>
          <a:lstStyle/>
          <a:p>
            <a:fld id="{E5B29C50-D6F1-4DB6-9B68-F4CD3996E9CF}" type="slidenum">
              <a:rPr lang="en-US" smtClean="0"/>
              <a:pPr/>
              <a:t>‹#›</a:t>
            </a:fld>
            <a:endParaRPr lang="en-US" dirty="0"/>
          </a:p>
        </p:txBody>
      </p:sp>
    </p:spTree>
    <p:extLst>
      <p:ext uri="{BB962C8B-B14F-4D97-AF65-F5344CB8AC3E}">
        <p14:creationId xmlns:p14="http://schemas.microsoft.com/office/powerpoint/2010/main" val="2441042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47BE74F-367A-4D3C-8AA7-FA60CCA05EAE}" type="datetime1">
              <a:rPr lang="en-US" smtClean="0"/>
              <a:pPr/>
              <a:t>7/30/2026</a:t>
            </a:fld>
            <a:endParaRPr lang="en-US" dirty="0"/>
          </a:p>
        </p:txBody>
      </p:sp>
      <p:sp>
        <p:nvSpPr>
          <p:cNvPr id="6" name="Footer Placeholder 5"/>
          <p:cNvSpPr>
            <a:spLocks noGrp="1"/>
          </p:cNvSpPr>
          <p:nvPr>
            <p:ph type="ftr" sz="quarter" idx="11"/>
          </p:nvPr>
        </p:nvSpPr>
        <p:spPr/>
        <p:txBody>
          <a:bodyPr/>
          <a:lstStyle/>
          <a:p>
            <a:r>
              <a:rPr lang="en-US"/>
              <a:t>Add a footer</a:t>
            </a:r>
            <a:endParaRPr lang="en-US" dirty="0"/>
          </a:p>
        </p:txBody>
      </p:sp>
      <p:sp>
        <p:nvSpPr>
          <p:cNvPr id="7" name="Slide Number Placeholder 6"/>
          <p:cNvSpPr>
            <a:spLocks noGrp="1"/>
          </p:cNvSpPr>
          <p:nvPr>
            <p:ph type="sldNum" sz="quarter" idx="12"/>
          </p:nvPr>
        </p:nvSpPr>
        <p:spPr/>
        <p:txBody>
          <a:bodyPr/>
          <a:lstStyle/>
          <a:p>
            <a:fld id="{E5B29C50-D6F1-4DB6-9B68-F4CD3996E9CF}" type="slidenum">
              <a:rPr lang="en-US" smtClean="0"/>
              <a:pPr/>
              <a:t>‹#›</a:t>
            </a:fld>
            <a:endParaRPr lang="en-US" dirty="0"/>
          </a:p>
        </p:txBody>
      </p:sp>
    </p:spTree>
    <p:extLst>
      <p:ext uri="{BB962C8B-B14F-4D97-AF65-F5344CB8AC3E}">
        <p14:creationId xmlns:p14="http://schemas.microsoft.com/office/powerpoint/2010/main" val="475666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79E3F9C-6465-4987-8E4E-615CFD4753AA}" type="datetime1">
              <a:rPr lang="en-US" smtClean="0"/>
              <a:pPr/>
              <a:t>7/30/2026</a:t>
            </a:fld>
            <a:endParaRPr lang="en-US" dirty="0"/>
          </a:p>
        </p:txBody>
      </p:sp>
      <p:sp>
        <p:nvSpPr>
          <p:cNvPr id="8" name="Footer Placeholder 7"/>
          <p:cNvSpPr>
            <a:spLocks noGrp="1"/>
          </p:cNvSpPr>
          <p:nvPr>
            <p:ph type="ftr" sz="quarter" idx="11"/>
          </p:nvPr>
        </p:nvSpPr>
        <p:spPr/>
        <p:txBody>
          <a:bodyPr/>
          <a:lstStyle/>
          <a:p>
            <a:r>
              <a:rPr lang="en-US"/>
              <a:t>Add a footer</a:t>
            </a:r>
            <a:endParaRPr lang="en-US" dirty="0"/>
          </a:p>
        </p:txBody>
      </p:sp>
      <p:sp>
        <p:nvSpPr>
          <p:cNvPr id="9" name="Slide Number Placeholder 8"/>
          <p:cNvSpPr>
            <a:spLocks noGrp="1"/>
          </p:cNvSpPr>
          <p:nvPr>
            <p:ph type="sldNum" sz="quarter" idx="12"/>
          </p:nvPr>
        </p:nvSpPr>
        <p:spPr/>
        <p:txBody>
          <a:bodyPr/>
          <a:lstStyle/>
          <a:p>
            <a:fld id="{E5B29C50-D6F1-4DB6-9B68-F4CD3996E9CF}" type="slidenum">
              <a:rPr lang="en-US" smtClean="0"/>
              <a:pPr/>
              <a:t>‹#›</a:t>
            </a:fld>
            <a:endParaRPr lang="en-US" dirty="0"/>
          </a:p>
        </p:txBody>
      </p:sp>
    </p:spTree>
    <p:extLst>
      <p:ext uri="{BB962C8B-B14F-4D97-AF65-F5344CB8AC3E}">
        <p14:creationId xmlns:p14="http://schemas.microsoft.com/office/powerpoint/2010/main" val="4001259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49EFD6-3C20-43C6-9E75-1A9D48D9576F}" type="datetime1">
              <a:rPr lang="en-US" smtClean="0"/>
              <a:pPr/>
              <a:t>7/30/2026</a:t>
            </a:fld>
            <a:endParaRPr lang="en-US" dirty="0"/>
          </a:p>
        </p:txBody>
      </p:sp>
      <p:sp>
        <p:nvSpPr>
          <p:cNvPr id="4" name="Footer Placeholder 3"/>
          <p:cNvSpPr>
            <a:spLocks noGrp="1"/>
          </p:cNvSpPr>
          <p:nvPr>
            <p:ph type="ftr" sz="quarter" idx="11"/>
          </p:nvPr>
        </p:nvSpPr>
        <p:spPr/>
        <p:txBody>
          <a:bodyPr/>
          <a:lstStyle/>
          <a:p>
            <a:r>
              <a:rPr lang="en-US"/>
              <a:t>Add a footer</a:t>
            </a:r>
            <a:endParaRPr lang="en-US" dirty="0"/>
          </a:p>
        </p:txBody>
      </p:sp>
      <p:sp>
        <p:nvSpPr>
          <p:cNvPr id="5" name="Slide Number Placeholder 4"/>
          <p:cNvSpPr>
            <a:spLocks noGrp="1"/>
          </p:cNvSpPr>
          <p:nvPr>
            <p:ph type="sldNum" sz="quarter" idx="12"/>
          </p:nvPr>
        </p:nvSpPr>
        <p:spPr/>
        <p:txBody>
          <a:bodyPr/>
          <a:lstStyle/>
          <a:p>
            <a:fld id="{E5B29C50-D6F1-4DB6-9B68-F4CD3996E9CF}" type="slidenum">
              <a:rPr lang="en-US" smtClean="0"/>
              <a:pPr/>
              <a:t>‹#›</a:t>
            </a:fld>
            <a:endParaRPr lang="en-US" dirty="0"/>
          </a:p>
        </p:txBody>
      </p:sp>
    </p:spTree>
    <p:extLst>
      <p:ext uri="{BB962C8B-B14F-4D97-AF65-F5344CB8AC3E}">
        <p14:creationId xmlns:p14="http://schemas.microsoft.com/office/powerpoint/2010/main" val="9709867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493D5A-A484-46EE-9DC8-9A16BFF8327E}" type="datetime1">
              <a:rPr lang="en-US" smtClean="0"/>
              <a:pPr/>
              <a:t>7/30/2026</a:t>
            </a:fld>
            <a:endParaRPr lang="en-US" dirty="0"/>
          </a:p>
        </p:txBody>
      </p:sp>
      <p:sp>
        <p:nvSpPr>
          <p:cNvPr id="3" name="Footer Placeholder 2"/>
          <p:cNvSpPr>
            <a:spLocks noGrp="1"/>
          </p:cNvSpPr>
          <p:nvPr>
            <p:ph type="ftr" sz="quarter" idx="11"/>
          </p:nvPr>
        </p:nvSpPr>
        <p:spPr/>
        <p:txBody>
          <a:bodyPr/>
          <a:lstStyle/>
          <a:p>
            <a:r>
              <a:rPr lang="en-US"/>
              <a:t>Add a footer</a:t>
            </a:r>
            <a:endParaRPr lang="en-US" dirty="0"/>
          </a:p>
        </p:txBody>
      </p:sp>
      <p:sp>
        <p:nvSpPr>
          <p:cNvPr id="4" name="Slide Number Placeholder 3"/>
          <p:cNvSpPr>
            <a:spLocks noGrp="1"/>
          </p:cNvSpPr>
          <p:nvPr>
            <p:ph type="sldNum" sz="quarter" idx="12"/>
          </p:nvPr>
        </p:nvSpPr>
        <p:spPr/>
        <p:txBody>
          <a:bodyPr/>
          <a:lstStyle/>
          <a:p>
            <a:fld id="{E5B29C50-D6F1-4DB6-9B68-F4CD3996E9CF}" type="slidenum">
              <a:rPr lang="en-US" smtClean="0"/>
              <a:pPr/>
              <a:t>‹#›</a:t>
            </a:fld>
            <a:endParaRPr lang="en-US" dirty="0"/>
          </a:p>
        </p:txBody>
      </p:sp>
    </p:spTree>
    <p:extLst>
      <p:ext uri="{BB962C8B-B14F-4D97-AF65-F5344CB8AC3E}">
        <p14:creationId xmlns:p14="http://schemas.microsoft.com/office/powerpoint/2010/main" val="19300404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287BC8-78D1-4FEB-9D4F-E22E45CC04F7}" type="datetime1">
              <a:rPr lang="en-US" smtClean="0"/>
              <a:pPr/>
              <a:t>7/30/2026</a:t>
            </a:fld>
            <a:endParaRPr lang="en-US" dirty="0"/>
          </a:p>
        </p:txBody>
      </p:sp>
      <p:sp>
        <p:nvSpPr>
          <p:cNvPr id="6" name="Footer Placeholder 5"/>
          <p:cNvSpPr>
            <a:spLocks noGrp="1"/>
          </p:cNvSpPr>
          <p:nvPr>
            <p:ph type="ftr" sz="quarter" idx="11"/>
          </p:nvPr>
        </p:nvSpPr>
        <p:spPr/>
        <p:txBody>
          <a:bodyPr/>
          <a:lstStyle/>
          <a:p>
            <a:r>
              <a:rPr lang="en-US"/>
              <a:t>Add a footer</a:t>
            </a:r>
            <a:endParaRPr lang="en-US" dirty="0"/>
          </a:p>
        </p:txBody>
      </p:sp>
      <p:sp>
        <p:nvSpPr>
          <p:cNvPr id="7" name="Slide Number Placeholder 6"/>
          <p:cNvSpPr>
            <a:spLocks noGrp="1"/>
          </p:cNvSpPr>
          <p:nvPr>
            <p:ph type="sldNum" sz="quarter" idx="12"/>
          </p:nvPr>
        </p:nvSpPr>
        <p:spPr/>
        <p:txBody>
          <a:bodyPr/>
          <a:lstStyle/>
          <a:p>
            <a:fld id="{E5B29C50-D6F1-4DB6-9B68-F4CD3996E9CF}" type="slidenum">
              <a:rPr lang="en-US" smtClean="0"/>
              <a:pPr/>
              <a:t>‹#›</a:t>
            </a:fld>
            <a:endParaRPr lang="en-US" dirty="0"/>
          </a:p>
        </p:txBody>
      </p:sp>
    </p:spTree>
    <p:extLst>
      <p:ext uri="{BB962C8B-B14F-4D97-AF65-F5344CB8AC3E}">
        <p14:creationId xmlns:p14="http://schemas.microsoft.com/office/powerpoint/2010/main" val="244955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568210-870C-4A62-9D1B-4B25162550AB}" type="datetime1">
              <a:rPr lang="en-US" smtClean="0"/>
              <a:pPr/>
              <a:t>7/30/2026</a:t>
            </a:fld>
            <a:endParaRPr lang="en-US" dirty="0"/>
          </a:p>
        </p:txBody>
      </p:sp>
      <p:sp>
        <p:nvSpPr>
          <p:cNvPr id="6" name="Footer Placeholder 5"/>
          <p:cNvSpPr>
            <a:spLocks noGrp="1"/>
          </p:cNvSpPr>
          <p:nvPr>
            <p:ph type="ftr" sz="quarter" idx="11"/>
          </p:nvPr>
        </p:nvSpPr>
        <p:spPr/>
        <p:txBody>
          <a:bodyPr/>
          <a:lstStyle/>
          <a:p>
            <a:r>
              <a:rPr lang="en-US"/>
              <a:t>Add a footer</a:t>
            </a:r>
            <a:endParaRPr lang="en-US" dirty="0"/>
          </a:p>
        </p:txBody>
      </p:sp>
      <p:sp>
        <p:nvSpPr>
          <p:cNvPr id="7" name="Slide Number Placeholder 6"/>
          <p:cNvSpPr>
            <a:spLocks noGrp="1"/>
          </p:cNvSpPr>
          <p:nvPr>
            <p:ph type="sldNum" sz="quarter" idx="12"/>
          </p:nvPr>
        </p:nvSpPr>
        <p:spPr/>
        <p:txBody>
          <a:bodyPr/>
          <a:lstStyle/>
          <a:p>
            <a:fld id="{E5B29C50-D6F1-4DB6-9B68-F4CD3996E9CF}" type="slidenum">
              <a:rPr lang="en-US" smtClean="0"/>
              <a:pPr/>
              <a:t>‹#›</a:t>
            </a:fld>
            <a:endParaRPr lang="en-US" dirty="0"/>
          </a:p>
        </p:txBody>
      </p:sp>
    </p:spTree>
    <p:extLst>
      <p:ext uri="{BB962C8B-B14F-4D97-AF65-F5344CB8AC3E}">
        <p14:creationId xmlns:p14="http://schemas.microsoft.com/office/powerpoint/2010/main" val="20877614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0CABDA2-EB00-4A4D-86B7-63E286A484E5}" type="datetime1">
              <a:rPr lang="en-US" smtClean="0"/>
              <a:pPr/>
              <a:t>7/30/2026</a:t>
            </a:fld>
            <a:endParaRPr lang="en-US" dirty="0"/>
          </a:p>
        </p:txBody>
      </p:sp>
      <p:sp>
        <p:nvSpPr>
          <p:cNvPr id="6" name="Footer Placeholder 5"/>
          <p:cNvSpPr>
            <a:spLocks noGrp="1"/>
          </p:cNvSpPr>
          <p:nvPr>
            <p:ph type="ftr" sz="quarter" idx="11"/>
          </p:nvPr>
        </p:nvSpPr>
        <p:spPr/>
        <p:txBody>
          <a:bodyPr/>
          <a:lstStyle/>
          <a:p>
            <a:r>
              <a:rPr lang="en-US"/>
              <a:t>Add a footer</a:t>
            </a:r>
            <a:endParaRPr lang="en-US" dirty="0"/>
          </a:p>
        </p:txBody>
      </p:sp>
      <p:sp>
        <p:nvSpPr>
          <p:cNvPr id="7" name="Slide Number Placeholder 6"/>
          <p:cNvSpPr>
            <a:spLocks noGrp="1"/>
          </p:cNvSpPr>
          <p:nvPr>
            <p:ph type="sldNum" sz="quarter" idx="12"/>
          </p:nvPr>
        </p:nvSpPr>
        <p:spPr/>
        <p:txBody>
          <a:bodyPr/>
          <a:lstStyle/>
          <a:p>
            <a:fld id="{E5B29C50-D6F1-4DB6-9B68-F4CD3996E9CF}" type="slidenum">
              <a:rPr lang="en-US" smtClean="0"/>
              <a:pPr/>
              <a:t>‹#›</a:t>
            </a:fld>
            <a:endParaRPr lang="en-US" dirty="0"/>
          </a:p>
        </p:txBody>
      </p:sp>
    </p:spTree>
    <p:extLst>
      <p:ext uri="{BB962C8B-B14F-4D97-AF65-F5344CB8AC3E}">
        <p14:creationId xmlns:p14="http://schemas.microsoft.com/office/powerpoint/2010/main" val="198898535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0CABDA2-EB00-4A4D-86B7-63E286A484E5}" type="datetime1">
              <a:rPr lang="en-US" smtClean="0"/>
              <a:pPr/>
              <a:t>7/30/2026</a:t>
            </a:fld>
            <a:endParaRPr lang="en-US" dirty="0"/>
          </a:p>
        </p:txBody>
      </p:sp>
      <p:sp>
        <p:nvSpPr>
          <p:cNvPr id="6" name="Footer Placeholder 5"/>
          <p:cNvSpPr>
            <a:spLocks noGrp="1"/>
          </p:cNvSpPr>
          <p:nvPr>
            <p:ph type="ftr" sz="quarter" idx="11"/>
          </p:nvPr>
        </p:nvSpPr>
        <p:spPr/>
        <p:txBody>
          <a:bodyPr/>
          <a:lstStyle/>
          <a:p>
            <a:r>
              <a:rPr lang="en-US"/>
              <a:t>Add a footer</a:t>
            </a:r>
            <a:endParaRPr lang="en-US" dirty="0"/>
          </a:p>
        </p:txBody>
      </p:sp>
      <p:sp>
        <p:nvSpPr>
          <p:cNvPr id="7" name="Slide Number Placeholder 6"/>
          <p:cNvSpPr>
            <a:spLocks noGrp="1"/>
          </p:cNvSpPr>
          <p:nvPr>
            <p:ph type="sldNum" sz="quarter" idx="12"/>
          </p:nvPr>
        </p:nvSpPr>
        <p:spPr/>
        <p:txBody>
          <a:bodyPr/>
          <a:lstStyle/>
          <a:p>
            <a:fld id="{E5B29C50-D6F1-4DB6-9B68-F4CD3996E9CF}" type="slidenum">
              <a:rPr lang="en-US" smtClean="0"/>
              <a:pPr/>
              <a:t>‹#›</a:t>
            </a:fld>
            <a:endParaRPr lang="en-US" dirty="0"/>
          </a:p>
        </p:txBody>
      </p:sp>
    </p:spTree>
    <p:extLst>
      <p:ext uri="{BB962C8B-B14F-4D97-AF65-F5344CB8AC3E}">
        <p14:creationId xmlns:p14="http://schemas.microsoft.com/office/powerpoint/2010/main" val="269437163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0CABDA2-EB00-4A4D-86B7-63E286A484E5}" type="datetime1">
              <a:rPr lang="en-US" smtClean="0"/>
              <a:pPr/>
              <a:t>7/30/2026</a:t>
            </a:fld>
            <a:endParaRPr lang="en-US" dirty="0"/>
          </a:p>
        </p:txBody>
      </p:sp>
      <p:sp>
        <p:nvSpPr>
          <p:cNvPr id="6" name="Footer Placeholder 5"/>
          <p:cNvSpPr>
            <a:spLocks noGrp="1"/>
          </p:cNvSpPr>
          <p:nvPr>
            <p:ph type="ftr" sz="quarter" idx="11"/>
          </p:nvPr>
        </p:nvSpPr>
        <p:spPr/>
        <p:txBody>
          <a:bodyPr/>
          <a:lstStyle/>
          <a:p>
            <a:r>
              <a:rPr lang="en-US"/>
              <a:t>Add a footer</a:t>
            </a:r>
            <a:endParaRPr lang="en-US" dirty="0"/>
          </a:p>
        </p:txBody>
      </p:sp>
      <p:sp>
        <p:nvSpPr>
          <p:cNvPr id="7" name="Slide Number Placeholder 6"/>
          <p:cNvSpPr>
            <a:spLocks noGrp="1"/>
          </p:cNvSpPr>
          <p:nvPr>
            <p:ph type="sldNum" sz="quarter" idx="12"/>
          </p:nvPr>
        </p:nvSpPr>
        <p:spPr/>
        <p:txBody>
          <a:bodyPr/>
          <a:lstStyle/>
          <a:p>
            <a:fld id="{E5B29C50-D6F1-4DB6-9B68-F4CD3996E9CF}" type="slidenum">
              <a:rPr lang="en-US" smtClean="0"/>
              <a:pPr/>
              <a:t>‹#›</a:t>
            </a:fld>
            <a:endParaRPr lang="en-US" dirty="0"/>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30665822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0CABDA2-EB00-4A4D-86B7-63E286A484E5}" type="datetime1">
              <a:rPr lang="en-US" smtClean="0"/>
              <a:pPr/>
              <a:t>7/30/2026</a:t>
            </a:fld>
            <a:endParaRPr lang="en-US" dirty="0"/>
          </a:p>
        </p:txBody>
      </p:sp>
      <p:sp>
        <p:nvSpPr>
          <p:cNvPr id="6" name="Footer Placeholder 5"/>
          <p:cNvSpPr>
            <a:spLocks noGrp="1"/>
          </p:cNvSpPr>
          <p:nvPr>
            <p:ph type="ftr" sz="quarter" idx="11"/>
          </p:nvPr>
        </p:nvSpPr>
        <p:spPr/>
        <p:txBody>
          <a:bodyPr/>
          <a:lstStyle/>
          <a:p>
            <a:r>
              <a:rPr lang="en-US"/>
              <a:t>Add a footer</a:t>
            </a:r>
            <a:endParaRPr lang="en-US" dirty="0"/>
          </a:p>
        </p:txBody>
      </p:sp>
      <p:sp>
        <p:nvSpPr>
          <p:cNvPr id="7" name="Slide Number Placeholder 6"/>
          <p:cNvSpPr>
            <a:spLocks noGrp="1"/>
          </p:cNvSpPr>
          <p:nvPr>
            <p:ph type="sldNum" sz="quarter" idx="12"/>
          </p:nvPr>
        </p:nvSpPr>
        <p:spPr/>
        <p:txBody>
          <a:bodyPr/>
          <a:lstStyle/>
          <a:p>
            <a:fld id="{E5B29C50-D6F1-4DB6-9B68-F4CD3996E9CF}" type="slidenum">
              <a:rPr lang="en-US" smtClean="0"/>
              <a:pPr/>
              <a:t>‹#›</a:t>
            </a:fld>
            <a:endParaRPr lang="en-US" dirty="0"/>
          </a:p>
        </p:txBody>
      </p:sp>
    </p:spTree>
    <p:extLst>
      <p:ext uri="{BB962C8B-B14F-4D97-AF65-F5344CB8AC3E}">
        <p14:creationId xmlns:p14="http://schemas.microsoft.com/office/powerpoint/2010/main" val="4208892183"/>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0CABDA2-EB00-4A4D-86B7-63E286A484E5}" type="datetime1">
              <a:rPr lang="en-US" smtClean="0"/>
              <a:pPr/>
              <a:t>7/30/2026</a:t>
            </a:fld>
            <a:endParaRPr lang="en-US" dirty="0"/>
          </a:p>
        </p:txBody>
      </p:sp>
      <p:sp>
        <p:nvSpPr>
          <p:cNvPr id="4" name="Footer Placeholder 3"/>
          <p:cNvSpPr>
            <a:spLocks noGrp="1"/>
          </p:cNvSpPr>
          <p:nvPr>
            <p:ph type="ftr" sz="quarter" idx="11"/>
          </p:nvPr>
        </p:nvSpPr>
        <p:spPr/>
        <p:txBody>
          <a:bodyPr/>
          <a:lstStyle/>
          <a:p>
            <a:r>
              <a:rPr lang="en-US"/>
              <a:t>Add a footer</a:t>
            </a:r>
            <a:endParaRPr lang="en-US" dirty="0"/>
          </a:p>
        </p:txBody>
      </p:sp>
      <p:sp>
        <p:nvSpPr>
          <p:cNvPr id="5" name="Slide Number Placeholder 4"/>
          <p:cNvSpPr>
            <a:spLocks noGrp="1"/>
          </p:cNvSpPr>
          <p:nvPr>
            <p:ph type="sldNum" sz="quarter" idx="12"/>
          </p:nvPr>
        </p:nvSpPr>
        <p:spPr/>
        <p:txBody>
          <a:bodyPr/>
          <a:lstStyle/>
          <a:p>
            <a:fld id="{E5B29C50-D6F1-4DB6-9B68-F4CD3996E9CF}" type="slidenum">
              <a:rPr lang="en-US" smtClean="0"/>
              <a:pPr/>
              <a:t>‹#›</a:t>
            </a:fld>
            <a:endParaRPr lang="en-US" dirty="0"/>
          </a:p>
        </p:txBody>
      </p:sp>
    </p:spTree>
    <p:extLst>
      <p:ext uri="{BB962C8B-B14F-4D97-AF65-F5344CB8AC3E}">
        <p14:creationId xmlns:p14="http://schemas.microsoft.com/office/powerpoint/2010/main" val="26062654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0CABDA2-EB00-4A4D-86B7-63E286A484E5}" type="datetime1">
              <a:rPr lang="en-US" smtClean="0"/>
              <a:pPr/>
              <a:t>7/30/2026</a:t>
            </a:fld>
            <a:endParaRPr lang="en-US" dirty="0"/>
          </a:p>
        </p:txBody>
      </p:sp>
      <p:sp>
        <p:nvSpPr>
          <p:cNvPr id="4" name="Footer Placeholder 3"/>
          <p:cNvSpPr>
            <a:spLocks noGrp="1"/>
          </p:cNvSpPr>
          <p:nvPr>
            <p:ph type="ftr" sz="quarter" idx="11"/>
          </p:nvPr>
        </p:nvSpPr>
        <p:spPr/>
        <p:txBody>
          <a:bodyPr/>
          <a:lstStyle/>
          <a:p>
            <a:r>
              <a:rPr lang="en-US"/>
              <a:t>Add a footer</a:t>
            </a:r>
            <a:endParaRPr lang="en-US" dirty="0"/>
          </a:p>
        </p:txBody>
      </p:sp>
      <p:sp>
        <p:nvSpPr>
          <p:cNvPr id="5" name="Slide Number Placeholder 4"/>
          <p:cNvSpPr>
            <a:spLocks noGrp="1"/>
          </p:cNvSpPr>
          <p:nvPr>
            <p:ph type="sldNum" sz="quarter" idx="12"/>
          </p:nvPr>
        </p:nvSpPr>
        <p:spPr/>
        <p:txBody>
          <a:bodyPr/>
          <a:lstStyle/>
          <a:p>
            <a:fld id="{E5B29C50-D6F1-4DB6-9B68-F4CD3996E9CF}" type="slidenum">
              <a:rPr lang="en-US" smtClean="0"/>
              <a:pPr/>
              <a:t>‹#›</a:t>
            </a:fld>
            <a:endParaRPr lang="en-US" dirty="0"/>
          </a:p>
        </p:txBody>
      </p:sp>
    </p:spTree>
    <p:extLst>
      <p:ext uri="{BB962C8B-B14F-4D97-AF65-F5344CB8AC3E}">
        <p14:creationId xmlns:p14="http://schemas.microsoft.com/office/powerpoint/2010/main" val="348725098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011EA7-B10E-4739-92FE-8993461CC0B7}" type="datetime1">
              <a:rPr lang="en-US" smtClean="0"/>
              <a:pPr/>
              <a:t>7/30/2026</a:t>
            </a:fld>
            <a:endParaRPr lang="en-US" dirty="0"/>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6" name="Slide Number Placeholder 5"/>
          <p:cNvSpPr>
            <a:spLocks noGrp="1"/>
          </p:cNvSpPr>
          <p:nvPr>
            <p:ph type="sldNum" sz="quarter" idx="12"/>
          </p:nvPr>
        </p:nvSpPr>
        <p:spPr/>
        <p:txBody>
          <a:bodyPr/>
          <a:lstStyle/>
          <a:p>
            <a:fld id="{E5B29C50-D6F1-4DB6-9B68-F4CD3996E9CF}" type="slidenum">
              <a:rPr lang="en-US" smtClean="0"/>
              <a:pPr/>
              <a:t>‹#›</a:t>
            </a:fld>
            <a:endParaRPr lang="en-US" dirty="0"/>
          </a:p>
        </p:txBody>
      </p:sp>
    </p:spTree>
    <p:extLst>
      <p:ext uri="{BB962C8B-B14F-4D97-AF65-F5344CB8AC3E}">
        <p14:creationId xmlns:p14="http://schemas.microsoft.com/office/powerpoint/2010/main" val="38820736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5DC13F-2D2A-49BA-966D-6530A12E7C15}" type="datetime1">
              <a:rPr lang="en-US" smtClean="0"/>
              <a:pPr/>
              <a:t>7/30/2026</a:t>
            </a:fld>
            <a:endParaRPr lang="en-US" dirty="0"/>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6" name="Slide Number Placeholder 5"/>
          <p:cNvSpPr>
            <a:spLocks noGrp="1"/>
          </p:cNvSpPr>
          <p:nvPr>
            <p:ph type="sldNum" sz="quarter" idx="12"/>
          </p:nvPr>
        </p:nvSpPr>
        <p:spPr/>
        <p:txBody>
          <a:bodyPr/>
          <a:lstStyle/>
          <a:p>
            <a:fld id="{E5B29C50-D6F1-4DB6-9B68-F4CD3996E9CF}" type="slidenum">
              <a:rPr lang="en-US" smtClean="0"/>
              <a:pPr/>
              <a:t>‹#›</a:t>
            </a:fld>
            <a:endParaRPr lang="en-US" dirty="0"/>
          </a:p>
        </p:txBody>
      </p:sp>
    </p:spTree>
    <p:extLst>
      <p:ext uri="{BB962C8B-B14F-4D97-AF65-F5344CB8AC3E}">
        <p14:creationId xmlns:p14="http://schemas.microsoft.com/office/powerpoint/2010/main" val="21378994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lumMod val="50000"/>
                <a:lumOff val="50000"/>
              </a:schemeClr>
            </a:gs>
            <a:gs pos="82000">
              <a:srgbClr val="00B0F0"/>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00CABDA2-EB00-4A4D-86B7-63E286A484E5}" type="datetime1">
              <a:rPr lang="en-US" smtClean="0"/>
              <a:pPr/>
              <a:t>7/30/2026</a:t>
            </a:fld>
            <a:endParaRPr lang="en-US" dirty="0"/>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r>
              <a:rPr lang="en-US"/>
              <a:t>Add a footer</a:t>
            </a:r>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E5B29C50-D6F1-4DB6-9B68-F4CD3996E9CF}" type="slidenum">
              <a:rPr lang="en-US" smtClean="0"/>
              <a:pPr/>
              <a:t>‹#›</a:t>
            </a:fld>
            <a:endParaRPr lang="en-US" dirty="0"/>
          </a:p>
        </p:txBody>
      </p:sp>
    </p:spTree>
    <p:extLst>
      <p:ext uri="{BB962C8B-B14F-4D97-AF65-F5344CB8AC3E}">
        <p14:creationId xmlns:p14="http://schemas.microsoft.com/office/powerpoint/2010/main" val="3244216545"/>
      </p:ext>
    </p:extLst>
  </p:cSld>
  <p:clrMap bg1="dk1" tx1="lt1" bg2="dk2" tx2="lt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 id="2147483755" r:id="rId12"/>
    <p:sldLayoutId id="2147483756" r:id="rId13"/>
    <p:sldLayoutId id="2147483757" r:id="rId14"/>
    <p:sldLayoutId id="2147483758" r:id="rId15"/>
    <p:sldLayoutId id="2147483759" r:id="rId16"/>
    <p:sldLayoutId id="2147483760" r:id="rId17"/>
  </p:sldLayoutIdLst>
  <p:hf sldNum="0" hdr="0" ftr="0" dt="0"/>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288" userDrawn="1">
          <p15:clr>
            <a:srgbClr val="F26B43"/>
          </p15:clr>
        </p15:guide>
        <p15:guide id="4" pos="6648" userDrawn="1">
          <p15:clr>
            <a:srgbClr val="F26B43"/>
          </p15:clr>
        </p15:guide>
        <p15:guide id="5" orient="horz" pos="3528" userDrawn="1">
          <p15:clr>
            <a:srgbClr val="F26B43"/>
          </p15:clr>
        </p15:guide>
        <p15:guide id="6" orient="horz" pos="112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www.rawpixel.com/image/392863/free-photo-image-security-fraud-hacker"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hyperlink" Target="https://www.pikist.com/search?q=cybercrime"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9E704C9-D04C-BC51-F540-3FC5107F4C00}"/>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a:stretch/>
        </p:blipFill>
        <p:spPr>
          <a:xfrm>
            <a:off x="1" y="0"/>
            <a:ext cx="12191999" cy="6858000"/>
          </a:xfrm>
          <a:prstGeom prst="rect">
            <a:avLst/>
          </a:prstGeom>
        </p:spPr>
      </p:pic>
      <p:sp>
        <p:nvSpPr>
          <p:cNvPr id="2" name="Title 1"/>
          <p:cNvSpPr>
            <a:spLocks noGrp="1"/>
          </p:cNvSpPr>
          <p:nvPr>
            <p:ph type="ctrTitle"/>
          </p:nvPr>
        </p:nvSpPr>
        <p:spPr>
          <a:xfrm>
            <a:off x="251460" y="1676400"/>
            <a:ext cx="11689080" cy="2768600"/>
          </a:xfrm>
        </p:spPr>
        <p:txBody>
          <a:bodyPr>
            <a:noAutofit/>
          </a:bodyPr>
          <a:lstStyle/>
          <a:p>
            <a:r>
              <a:rPr lang="en-US" b="1" dirty="0">
                <a:solidFill>
                  <a:srgbClr val="FFFF00"/>
                </a:solidFill>
                <a:latin typeface="Arial Black" panose="020B0A04020102020204" pitchFamily="34" charset="0"/>
                <a:cs typeface="Times New Roman" panose="02020603050405020304" pitchFamily="18" charset="0"/>
              </a:rPr>
              <a:t>Malicious URL Detection</a:t>
            </a:r>
            <a:br>
              <a:rPr lang="en-US" b="1" dirty="0">
                <a:solidFill>
                  <a:srgbClr val="FFFF00"/>
                </a:solidFill>
                <a:latin typeface="Arial Black" panose="020B0A04020102020204" pitchFamily="34" charset="0"/>
                <a:cs typeface="Times New Roman" panose="02020603050405020304" pitchFamily="18" charset="0"/>
              </a:rPr>
            </a:br>
            <a:r>
              <a:rPr lang="en-US" b="1" dirty="0">
                <a:solidFill>
                  <a:srgbClr val="FFFF00"/>
                </a:solidFill>
                <a:latin typeface="Arial Black" panose="020B0A04020102020204" pitchFamily="34" charset="0"/>
                <a:cs typeface="Times New Roman" panose="02020603050405020304" pitchFamily="18" charset="0"/>
              </a:rPr>
              <a:t> Using Machine Learning Techniques</a:t>
            </a:r>
            <a:endParaRPr lang="en-US" b="1" dirty="0">
              <a:solidFill>
                <a:srgbClr val="FFFF00"/>
              </a:solidFill>
              <a:latin typeface="Arial Black" panose="020B0A04020102020204" pitchFamily="34" charset="0"/>
            </a:endParaRPr>
          </a:p>
        </p:txBody>
      </p:sp>
    </p:spTree>
    <p:extLst>
      <p:ext uri="{BB962C8B-B14F-4D97-AF65-F5344CB8AC3E}">
        <p14:creationId xmlns:p14="http://schemas.microsoft.com/office/powerpoint/2010/main" val="1990881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EB6DC4-8DBA-E580-61AE-7574C6F9F446}"/>
              </a:ext>
            </a:extLst>
          </p:cNvPr>
          <p:cNvSpPr txBox="1"/>
          <p:nvPr/>
        </p:nvSpPr>
        <p:spPr>
          <a:xfrm>
            <a:off x="380507" y="5292552"/>
            <a:ext cx="11021961" cy="1015663"/>
          </a:xfrm>
          <a:prstGeom prst="rect">
            <a:avLst/>
          </a:prstGeom>
          <a:noFill/>
          <a:ln>
            <a:noFill/>
          </a:ln>
        </p:spPr>
        <p:txBody>
          <a:bodyPr wrap="square">
            <a:spAutoFit/>
          </a:bodyPr>
          <a:lstStyle/>
          <a:p>
            <a:pPr algn="ctr"/>
            <a:r>
              <a:rPr lang="en-US" sz="2000" b="1" dirty="0">
                <a:latin typeface="Aptos Display" panose="020B0004020202020204" pitchFamily="34" charset="0"/>
              </a:rPr>
              <a:t>SRI VENKATESWARA COLLEGE OF ENGINEERING</a:t>
            </a:r>
          </a:p>
          <a:p>
            <a:pPr algn="ctr"/>
            <a:r>
              <a:rPr lang="en-US" sz="2000" b="1" dirty="0">
                <a:latin typeface="Aptos Display" panose="020B0004020202020204" pitchFamily="34" charset="0"/>
              </a:rPr>
              <a:t>(approved by AICTE, New Delhi and affiliated to JNTUA, Ananthapuramu)</a:t>
            </a:r>
          </a:p>
          <a:p>
            <a:pPr algn="ctr"/>
            <a:r>
              <a:rPr lang="en-US" sz="2000" b="1" dirty="0">
                <a:latin typeface="Aptos Display" panose="020B0004020202020204" pitchFamily="34" charset="0"/>
              </a:rPr>
              <a:t>         TIRUPATI-517501,A.P.</a:t>
            </a:r>
          </a:p>
        </p:txBody>
      </p:sp>
      <p:sp>
        <p:nvSpPr>
          <p:cNvPr id="5" name="TextBox 4">
            <a:extLst>
              <a:ext uri="{FF2B5EF4-FFF2-40B4-BE49-F238E27FC236}">
                <a16:creationId xmlns:a16="http://schemas.microsoft.com/office/drawing/2014/main" id="{E8F578D0-ADA2-8E8F-84BC-0EF2D10DC7DD}"/>
              </a:ext>
            </a:extLst>
          </p:cNvPr>
          <p:cNvSpPr txBox="1"/>
          <p:nvPr/>
        </p:nvSpPr>
        <p:spPr>
          <a:xfrm>
            <a:off x="614843" y="571557"/>
            <a:ext cx="11287433" cy="584775"/>
          </a:xfrm>
          <a:prstGeom prst="rect">
            <a:avLst/>
          </a:prstGeom>
          <a:noFill/>
          <a:ln>
            <a:noFill/>
          </a:ln>
        </p:spPr>
        <p:txBody>
          <a:bodyPr wrap="square">
            <a:spAutoFit/>
          </a:bodyPr>
          <a:lstStyle/>
          <a:p>
            <a:r>
              <a:rPr lang="en-US" sz="3200" b="1" dirty="0">
                <a:solidFill>
                  <a:srgbClr val="FFFF00"/>
                </a:solidFill>
                <a:latin typeface="Times New Roman" panose="02020603050405020304" pitchFamily="18" charset="0"/>
                <a:cs typeface="Times New Roman" panose="02020603050405020304" pitchFamily="18" charset="0"/>
              </a:rPr>
              <a:t>Malicious URL Detection Using Machine Learning Techniques</a:t>
            </a:r>
            <a:endParaRPr lang="en-IN" sz="3200" b="1" dirty="0">
              <a:solidFill>
                <a:srgbClr val="FFFF00"/>
              </a:solidFill>
            </a:endParaRPr>
          </a:p>
        </p:txBody>
      </p:sp>
      <p:sp>
        <p:nvSpPr>
          <p:cNvPr id="7" name="TextBox 6">
            <a:extLst>
              <a:ext uri="{FF2B5EF4-FFF2-40B4-BE49-F238E27FC236}">
                <a16:creationId xmlns:a16="http://schemas.microsoft.com/office/drawing/2014/main" id="{E344840C-CF65-C1D0-F38D-93946A2C6C3F}"/>
              </a:ext>
            </a:extLst>
          </p:cNvPr>
          <p:cNvSpPr txBox="1"/>
          <p:nvPr/>
        </p:nvSpPr>
        <p:spPr>
          <a:xfrm>
            <a:off x="177307" y="1836927"/>
            <a:ext cx="5420853" cy="1754326"/>
          </a:xfrm>
          <a:prstGeom prst="rect">
            <a:avLst/>
          </a:prstGeom>
          <a:noFill/>
          <a:ln>
            <a:noFill/>
          </a:ln>
        </p:spPr>
        <p:txBody>
          <a:bodyPr wrap="square">
            <a:spAutoFit/>
          </a:bodyPr>
          <a:lstStyle/>
          <a:p>
            <a:r>
              <a:rPr lang="en-US" b="1" dirty="0">
                <a:latin typeface="Arial Black" panose="020B0A04020102020204" pitchFamily="34" charset="0"/>
              </a:rPr>
              <a:t>PRESENTED BY </a:t>
            </a:r>
          </a:p>
          <a:p>
            <a:pPr algn="just"/>
            <a:endParaRPr lang="en-US" b="1" dirty="0">
              <a:latin typeface="Arial Black" panose="020B0A04020102020204" pitchFamily="34" charset="0"/>
            </a:endParaRPr>
          </a:p>
          <a:p>
            <a:pPr algn="just"/>
            <a:r>
              <a:rPr lang="en-US" b="1" dirty="0">
                <a:latin typeface="Arial Black" panose="020B0A04020102020204" pitchFamily="34" charset="0"/>
              </a:rPr>
              <a:t>B.LAHARI</a:t>
            </a:r>
          </a:p>
          <a:p>
            <a:r>
              <a:rPr lang="en-US" b="1" dirty="0">
                <a:latin typeface="Arial Black" panose="020B0A04020102020204" pitchFamily="34" charset="0"/>
              </a:rPr>
              <a:t>HAFIZA</a:t>
            </a:r>
          </a:p>
          <a:p>
            <a:r>
              <a:rPr lang="en-US" b="1" dirty="0">
                <a:latin typeface="Arial Black" panose="020B0A04020102020204" pitchFamily="34" charset="0"/>
              </a:rPr>
              <a:t>VENU</a:t>
            </a:r>
          </a:p>
          <a:p>
            <a:r>
              <a:rPr lang="en-US" b="1" dirty="0">
                <a:latin typeface="Arial Black" panose="020B0A04020102020204" pitchFamily="34" charset="0"/>
              </a:rPr>
              <a:t>PUNEETH KUMAR</a:t>
            </a:r>
          </a:p>
        </p:txBody>
      </p:sp>
      <p:sp>
        <p:nvSpPr>
          <p:cNvPr id="9" name="TextBox 8">
            <a:extLst>
              <a:ext uri="{FF2B5EF4-FFF2-40B4-BE49-F238E27FC236}">
                <a16:creationId xmlns:a16="http://schemas.microsoft.com/office/drawing/2014/main" id="{28FE4F0A-BF92-8359-CEC4-0D0B5BC95BBF}"/>
              </a:ext>
            </a:extLst>
          </p:cNvPr>
          <p:cNvSpPr txBox="1"/>
          <p:nvPr/>
        </p:nvSpPr>
        <p:spPr>
          <a:xfrm>
            <a:off x="6258559" y="1705790"/>
            <a:ext cx="6079117" cy="1200329"/>
          </a:xfrm>
          <a:prstGeom prst="rect">
            <a:avLst/>
          </a:prstGeom>
          <a:noFill/>
          <a:ln>
            <a:noFill/>
          </a:ln>
        </p:spPr>
        <p:txBody>
          <a:bodyPr wrap="square">
            <a:spAutoFit/>
          </a:bodyPr>
          <a:lstStyle/>
          <a:p>
            <a:r>
              <a:rPr lang="en-US" b="1" dirty="0">
                <a:latin typeface="Arial Black" panose="020B0A04020102020204" pitchFamily="34" charset="0"/>
              </a:rPr>
              <a:t>UNDER THE GUIDANCE OF </a:t>
            </a:r>
          </a:p>
          <a:p>
            <a:r>
              <a:rPr lang="en-IN" altLang="en-US" sz="1800" dirty="0">
                <a:latin typeface="Arial Black" panose="020B0A04020102020204" pitchFamily="34" charset="0"/>
                <a:cs typeface="Times New Roman" panose="02020603050405020304" charset="0"/>
                <a:sym typeface="+mn-ea"/>
              </a:rPr>
              <a:t>Mr. Dr . B. Lakshmi Narayana Reddy, </a:t>
            </a:r>
            <a:r>
              <a:rPr lang="en-IN" altLang="en-US" sz="1200" dirty="0">
                <a:latin typeface="Arial Black" panose="020B0A04020102020204" pitchFamily="34" charset="0"/>
                <a:cs typeface="Times New Roman" panose="02020603050405020304" charset="0"/>
                <a:sym typeface="+mn-ea"/>
              </a:rPr>
              <a:t>M.Tech, Ph.D., </a:t>
            </a:r>
          </a:p>
          <a:p>
            <a:r>
              <a:rPr lang="en-IN" altLang="en-US" sz="1800" dirty="0">
                <a:latin typeface="Arial Black" panose="020B0A04020102020204" pitchFamily="34" charset="0"/>
                <a:cs typeface="Times New Roman" panose="02020603050405020304" charset="0"/>
                <a:sym typeface="+mn-ea"/>
              </a:rPr>
              <a:t>Head of Department, </a:t>
            </a:r>
            <a:r>
              <a:rPr lang="en-US" sz="1800" dirty="0">
                <a:latin typeface="Arial Black" panose="020B0A04020102020204" pitchFamily="34" charset="0"/>
                <a:cs typeface="Times New Roman" panose="02020603050405020304" charset="0"/>
                <a:sym typeface="+mn-ea"/>
              </a:rPr>
              <a:t>CSE(AI &amp;ML)</a:t>
            </a:r>
            <a:r>
              <a:rPr lang="en-IN" dirty="0">
                <a:latin typeface="Arial Black" panose="020B0A04020102020204" pitchFamily="34" charset="0"/>
                <a:cs typeface="Times New Roman" panose="02020603050405020304" charset="0"/>
                <a:sym typeface="+mn-ea"/>
              </a:rPr>
              <a:t>.</a:t>
            </a:r>
            <a:endParaRPr lang="en-US" sz="1800" dirty="0">
              <a:latin typeface="Arial Black" panose="020B0A04020102020204" pitchFamily="34" charset="0"/>
              <a:cs typeface="Times New Roman" panose="02020603050405020304" charset="0"/>
              <a:sym typeface="+mn-ea"/>
            </a:endParaRPr>
          </a:p>
          <a:p>
            <a:endParaRPr lang="en-US" b="1" dirty="0">
              <a:solidFill>
                <a:schemeClr val="bg1"/>
              </a:solidFill>
              <a:latin typeface="Arial Black" panose="020B0A04020102020204" pitchFamily="34" charset="0"/>
            </a:endParaRPr>
          </a:p>
        </p:txBody>
      </p:sp>
      <p:pic>
        <p:nvPicPr>
          <p:cNvPr id="10" name="Picture 9">
            <a:extLst>
              <a:ext uri="{FF2B5EF4-FFF2-40B4-BE49-F238E27FC236}">
                <a16:creationId xmlns:a16="http://schemas.microsoft.com/office/drawing/2014/main" id="{D13BFD2E-C34C-1AFD-0744-0C04E5C3403C}"/>
              </a:ext>
            </a:extLst>
          </p:cNvPr>
          <p:cNvPicPr>
            <a:picLocks noChangeAspect="1"/>
          </p:cNvPicPr>
          <p:nvPr/>
        </p:nvPicPr>
        <p:blipFill>
          <a:blip r:embed="rId2"/>
          <a:stretch>
            <a:fillRect/>
          </a:stretch>
        </p:blipFill>
        <p:spPr>
          <a:xfrm>
            <a:off x="5327341" y="3672055"/>
            <a:ext cx="1537318" cy="1267182"/>
          </a:xfrm>
          <a:prstGeom prst="rect">
            <a:avLst/>
          </a:prstGeom>
        </p:spPr>
      </p:pic>
    </p:spTree>
    <p:extLst>
      <p:ext uri="{BB962C8B-B14F-4D97-AF65-F5344CB8AC3E}">
        <p14:creationId xmlns:p14="http://schemas.microsoft.com/office/powerpoint/2010/main" val="41040106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2BA2F4E7-3D0B-F453-5CDD-A07FB5FAB9E9}"/>
              </a:ext>
            </a:extLst>
          </p:cNvPr>
          <p:cNvSpPr txBox="1"/>
          <p:nvPr/>
        </p:nvSpPr>
        <p:spPr>
          <a:xfrm>
            <a:off x="182880" y="1998732"/>
            <a:ext cx="11826240" cy="3539430"/>
          </a:xfrm>
          <a:prstGeom prst="rect">
            <a:avLst/>
          </a:prstGeom>
          <a:noFill/>
          <a:ln>
            <a:noFill/>
          </a:ln>
        </p:spPr>
        <p:txBody>
          <a:bodyPr wrap="square">
            <a:spAutoFit/>
          </a:bodyPr>
          <a:lstStyle/>
          <a:p>
            <a:pPr algn="just"/>
            <a:r>
              <a:rPr lang="en-US" sz="2800" b="1" dirty="0">
                <a:latin typeface="Aptos Display" panose="020B0004020202020204" pitchFamily="34" charset="0"/>
                <a:cs typeface="Arial" panose="020B0604020202020204" pitchFamily="34" charset="0"/>
              </a:rPr>
              <a:t>							Currently, the risk of network information insecurity is increasing rapidly in number and level of danger. Propose a malicious URL detection method using machine learning techniques based on our proposed URL behaviors and attributes.</a:t>
            </a:r>
            <a:r>
              <a:rPr lang="en-US" sz="2000" dirty="0">
                <a:effectLst/>
                <a:latin typeface="Aptos Display" panose="020B0004020202020204" pitchFamily="34" charset="0"/>
                <a:ea typeface="Times New Roman" panose="02020603050405020304" pitchFamily="18" charset="0"/>
              </a:rPr>
              <a:t> </a:t>
            </a:r>
            <a:r>
              <a:rPr lang="en-US" sz="2400" b="1" dirty="0">
                <a:latin typeface="Aptos Display" panose="020B0004020202020204" pitchFamily="34" charset="0"/>
                <a:ea typeface="Times New Roman" panose="02020603050405020304" pitchFamily="18" charset="0"/>
              </a:rPr>
              <a:t>A</a:t>
            </a:r>
            <a:r>
              <a:rPr lang="en-US" sz="2000" b="1" dirty="0">
                <a:effectLst/>
                <a:latin typeface="Aptos Display" panose="020B0004020202020204" pitchFamily="34" charset="0"/>
                <a:ea typeface="Times New Roman" panose="02020603050405020304" pitchFamily="18" charset="0"/>
              </a:rPr>
              <a:t> </a:t>
            </a:r>
            <a:r>
              <a:rPr lang="en-US" sz="2800" b="1" dirty="0">
                <a:effectLst/>
                <a:latin typeface="Aptos Display" panose="020B0004020202020204" pitchFamily="34" charset="0"/>
                <a:ea typeface="Times New Roman" panose="02020603050405020304" pitchFamily="18" charset="0"/>
              </a:rPr>
              <a:t>malicious URL is a link created with the purpose of promoting scams, attacks, and frauds</a:t>
            </a:r>
            <a:r>
              <a:rPr lang="en-US" sz="2800" b="1" dirty="0">
                <a:latin typeface="Aptos Display" panose="020B0004020202020204" pitchFamily="34" charset="0"/>
                <a:ea typeface="Times New Roman" panose="02020603050405020304" pitchFamily="18" charset="0"/>
              </a:rPr>
              <a:t>. The proposed detection system consists of a new set of URLs features and behaviors, a machine learning algorithm, and a bigdata technology.</a:t>
            </a:r>
            <a:endParaRPr lang="en-US" sz="2800" b="1" dirty="0">
              <a:latin typeface="Aptos Display" panose="020B0004020202020204" pitchFamily="34" charset="0"/>
              <a:cs typeface="Arial" panose="020B0604020202020204" pitchFamily="34" charset="0"/>
            </a:endParaRPr>
          </a:p>
          <a:p>
            <a:endParaRPr lang="en-US" sz="2800" b="1" dirty="0">
              <a:latin typeface="Aptos Display" panose="020B0004020202020204" pitchFamily="34" charset="0"/>
            </a:endParaRPr>
          </a:p>
        </p:txBody>
      </p:sp>
      <p:sp>
        <p:nvSpPr>
          <p:cNvPr id="2" name="object 2">
            <a:extLst>
              <a:ext uri="{FF2B5EF4-FFF2-40B4-BE49-F238E27FC236}">
                <a16:creationId xmlns:a16="http://schemas.microsoft.com/office/drawing/2014/main" id="{F73070AE-8BC2-2DD9-DADE-4CA1D25C1DE3}"/>
              </a:ext>
            </a:extLst>
          </p:cNvPr>
          <p:cNvSpPr txBox="1">
            <a:spLocks/>
          </p:cNvSpPr>
          <p:nvPr/>
        </p:nvSpPr>
        <p:spPr>
          <a:xfrm>
            <a:off x="360680" y="547116"/>
            <a:ext cx="11470640" cy="568745"/>
          </a:xfrm>
          <a:prstGeom prst="rect">
            <a:avLst/>
          </a:prstGeom>
          <a:solidFill>
            <a:srgbClr val="FFFFFF">
              <a:alpha val="19999"/>
            </a:srgbClr>
          </a:solidFill>
        </p:spPr>
        <p:txBody>
          <a:bodyPr vert="horz" wrap="square" lIns="0" tIns="17145" rIns="0" bIns="0" rtlCol="0">
            <a:spAutoFit/>
          </a:bodyPr>
          <a:lst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7620">
              <a:lnSpc>
                <a:spcPts val="4255"/>
              </a:lnSpc>
              <a:spcBef>
                <a:spcPts val="135"/>
              </a:spcBef>
            </a:pPr>
            <a:r>
              <a:rPr lang="en-IN" spc="-5" dirty="0">
                <a:solidFill>
                  <a:srgbClr val="FFFF00"/>
                </a:solidFill>
              </a:rPr>
              <a:t>Abstract</a:t>
            </a:r>
          </a:p>
        </p:txBody>
      </p:sp>
    </p:spTree>
    <p:extLst>
      <p:ext uri="{BB962C8B-B14F-4D97-AF65-F5344CB8AC3E}">
        <p14:creationId xmlns:p14="http://schemas.microsoft.com/office/powerpoint/2010/main" val="566857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1F59706-2D8D-D61B-2B12-D36DB4C61C31}"/>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a:stretch/>
        </p:blipFill>
        <p:spPr>
          <a:xfrm>
            <a:off x="0" y="-20443"/>
            <a:ext cx="12192000" cy="6862403"/>
          </a:xfrm>
          <a:prstGeom prst="rect">
            <a:avLst/>
          </a:prstGeom>
        </p:spPr>
      </p:pic>
      <p:sp>
        <p:nvSpPr>
          <p:cNvPr id="9" name="TextBox 8">
            <a:extLst>
              <a:ext uri="{FF2B5EF4-FFF2-40B4-BE49-F238E27FC236}">
                <a16:creationId xmlns:a16="http://schemas.microsoft.com/office/drawing/2014/main" id="{D5DC1690-F632-F949-32AB-45DC533CDC1F}"/>
              </a:ext>
            </a:extLst>
          </p:cNvPr>
          <p:cNvSpPr txBox="1"/>
          <p:nvPr/>
        </p:nvSpPr>
        <p:spPr>
          <a:xfrm>
            <a:off x="81024" y="-8124"/>
            <a:ext cx="6748039" cy="8848576"/>
          </a:xfrm>
          <a:prstGeom prst="rect">
            <a:avLst/>
          </a:prstGeom>
          <a:noFill/>
          <a:ln>
            <a:noFill/>
          </a:ln>
        </p:spPr>
        <p:txBody>
          <a:bodyPr wrap="square">
            <a:spAutoFit/>
          </a:bodyPr>
          <a:lstStyle/>
          <a:p>
            <a:pPr algn="ctr"/>
            <a:r>
              <a:rPr lang="en-US" sz="3200" b="1" dirty="0">
                <a:solidFill>
                  <a:srgbClr val="FFFF00"/>
                </a:solidFill>
                <a:latin typeface="+mj-lt"/>
              </a:rPr>
              <a:t>Agenda</a:t>
            </a:r>
          </a:p>
          <a:p>
            <a:pPr marL="342900" indent="-342900">
              <a:lnSpc>
                <a:spcPct val="150000"/>
              </a:lnSpc>
              <a:buFont typeface="Arial" panose="020B0604020202020204" pitchFamily="34" charset="0"/>
              <a:buChar char="•"/>
            </a:pPr>
            <a:r>
              <a:rPr lang="en-US" dirty="0"/>
              <a:t>INTRODUCTION​</a:t>
            </a:r>
          </a:p>
          <a:p>
            <a:pPr marL="342900" indent="-342900">
              <a:lnSpc>
                <a:spcPct val="150000"/>
              </a:lnSpc>
              <a:buFont typeface="Arial" panose="020B0604020202020204" pitchFamily="34" charset="0"/>
              <a:buChar char="•"/>
            </a:pPr>
            <a:r>
              <a:rPr lang="en-US" dirty="0"/>
              <a:t>OBJECTIVE</a:t>
            </a:r>
          </a:p>
          <a:p>
            <a:pPr marL="342900" indent="-342900">
              <a:lnSpc>
                <a:spcPct val="150000"/>
              </a:lnSpc>
              <a:buFont typeface="Arial" panose="020B0604020202020204" pitchFamily="34" charset="0"/>
              <a:buChar char="•"/>
            </a:pPr>
            <a:r>
              <a:rPr lang="en-US" dirty="0"/>
              <a:t>EXISTING SYSTEM</a:t>
            </a:r>
          </a:p>
          <a:p>
            <a:pPr marL="342900" indent="-342900">
              <a:lnSpc>
                <a:spcPct val="150000"/>
              </a:lnSpc>
              <a:buFont typeface="Arial" panose="020B0604020202020204" pitchFamily="34" charset="0"/>
              <a:buChar char="•"/>
            </a:pPr>
            <a:r>
              <a:rPr lang="en-US" dirty="0"/>
              <a:t>DISADVANTAGES OF THE EXISTING SYSTEM</a:t>
            </a:r>
          </a:p>
          <a:p>
            <a:pPr marL="342900" indent="-342900">
              <a:lnSpc>
                <a:spcPct val="150000"/>
              </a:lnSpc>
              <a:buFont typeface="Arial" panose="020B0604020202020204" pitchFamily="34" charset="0"/>
              <a:buChar char="•"/>
            </a:pPr>
            <a:r>
              <a:rPr lang="en-US" dirty="0"/>
              <a:t>PROPOSED SYSTEM</a:t>
            </a:r>
          </a:p>
          <a:p>
            <a:pPr marL="342900" indent="-342900">
              <a:lnSpc>
                <a:spcPct val="150000"/>
              </a:lnSpc>
              <a:buFont typeface="Arial" panose="020B0604020202020204" pitchFamily="34" charset="0"/>
              <a:buChar char="•"/>
            </a:pPr>
            <a:r>
              <a:rPr lang="en-US" dirty="0"/>
              <a:t>ADVANTAGES OF THE PROPOSED SYSTEM​</a:t>
            </a:r>
          </a:p>
          <a:p>
            <a:pPr marL="342900" indent="-342900">
              <a:lnSpc>
                <a:spcPct val="150000"/>
              </a:lnSpc>
              <a:buFont typeface="Arial" panose="020B0604020202020204" pitchFamily="34" charset="0"/>
              <a:buChar char="•"/>
            </a:pPr>
            <a:r>
              <a:rPr lang="en-US" dirty="0"/>
              <a:t>SYSTEM REQUIREMENTS</a:t>
            </a:r>
          </a:p>
          <a:p>
            <a:pPr marL="342900" indent="-342900">
              <a:lnSpc>
                <a:spcPct val="150000"/>
              </a:lnSpc>
              <a:buFont typeface="Arial" panose="020B0604020202020204" pitchFamily="34" charset="0"/>
              <a:buChar char="•"/>
            </a:pPr>
            <a:r>
              <a:rPr lang="en-US" dirty="0"/>
              <a:t>APPLICATIONS</a:t>
            </a:r>
          </a:p>
          <a:p>
            <a:pPr marL="342900" indent="-342900">
              <a:lnSpc>
                <a:spcPct val="150000"/>
              </a:lnSpc>
              <a:buFont typeface="Arial" panose="020B0604020202020204" pitchFamily="34" charset="0"/>
              <a:buChar char="•"/>
            </a:pPr>
            <a:r>
              <a:rPr lang="en-US" dirty="0"/>
              <a:t>UML DIAGRAMS</a:t>
            </a:r>
          </a:p>
          <a:p>
            <a:pPr marL="342900" indent="-342900">
              <a:lnSpc>
                <a:spcPct val="150000"/>
              </a:lnSpc>
              <a:buFont typeface="Arial" panose="020B0604020202020204" pitchFamily="34" charset="0"/>
              <a:buChar char="•"/>
            </a:pPr>
            <a:r>
              <a:rPr lang="en-US" dirty="0"/>
              <a:t>MODULE IMPLEMENTATION</a:t>
            </a:r>
          </a:p>
          <a:p>
            <a:pPr marL="342900" indent="-342900">
              <a:lnSpc>
                <a:spcPct val="150000"/>
              </a:lnSpc>
              <a:buFont typeface="Arial" panose="020B0604020202020204" pitchFamily="34" charset="0"/>
              <a:buChar char="•"/>
            </a:pPr>
            <a:r>
              <a:rPr lang="en-US" dirty="0"/>
              <a:t>TEST TECHNIQUES</a:t>
            </a:r>
          </a:p>
          <a:p>
            <a:pPr marL="342900" indent="-342900">
              <a:lnSpc>
                <a:spcPct val="150000"/>
              </a:lnSpc>
              <a:buFont typeface="Arial" panose="020B0604020202020204" pitchFamily="34" charset="0"/>
              <a:buChar char="•"/>
            </a:pPr>
            <a:r>
              <a:rPr lang="en-US" dirty="0"/>
              <a:t>TEST CASES</a:t>
            </a:r>
          </a:p>
          <a:p>
            <a:pPr marL="342900" indent="-342900">
              <a:lnSpc>
                <a:spcPct val="150000"/>
              </a:lnSpc>
              <a:buFont typeface="Arial" panose="020B0604020202020204" pitchFamily="34" charset="0"/>
              <a:buChar char="•"/>
            </a:pPr>
            <a:r>
              <a:rPr lang="en-US" dirty="0"/>
              <a:t>PROJECT OUTPUT (SCREENSHOTS)</a:t>
            </a:r>
          </a:p>
          <a:p>
            <a:pPr marL="342900" indent="-342900">
              <a:lnSpc>
                <a:spcPct val="150000"/>
              </a:lnSpc>
              <a:buFont typeface="Arial" panose="020B0604020202020204" pitchFamily="34" charset="0"/>
              <a:buChar char="•"/>
            </a:pPr>
            <a:r>
              <a:rPr lang="en-US" dirty="0"/>
              <a:t>CONCLUSION</a:t>
            </a:r>
          </a:p>
          <a:p>
            <a:pPr marL="342900" indent="-342900">
              <a:lnSpc>
                <a:spcPct val="150000"/>
              </a:lnSpc>
              <a:buFont typeface="Arial" panose="020B0604020202020204" pitchFamily="34" charset="0"/>
              <a:buChar char="•"/>
            </a:pPr>
            <a:r>
              <a:rPr lang="en-US" dirty="0"/>
              <a:t>FUTURE ENHANCEMENTS</a:t>
            </a:r>
          </a:p>
          <a:p>
            <a:pPr marL="342900" indent="-342900">
              <a:lnSpc>
                <a:spcPct val="150000"/>
              </a:lnSpc>
              <a:buFont typeface="Arial" panose="020B0604020202020204" pitchFamily="34" charset="0"/>
              <a:buChar char="•"/>
            </a:pPr>
            <a:endParaRPr lang="en-US" sz="2400" dirty="0"/>
          </a:p>
          <a:p>
            <a:pPr>
              <a:lnSpc>
                <a:spcPct val="200000"/>
              </a:lnSpc>
            </a:pPr>
            <a:endParaRPr lang="en-US" dirty="0"/>
          </a:p>
          <a:p>
            <a:pPr>
              <a:lnSpc>
                <a:spcPct val="200000"/>
              </a:lnSpc>
            </a:pPr>
            <a:endParaRPr lang="en-US" sz="2000" dirty="0"/>
          </a:p>
          <a:p>
            <a:endParaRPr lang="en-IN" sz="2000" b="1" dirty="0">
              <a:solidFill>
                <a:schemeClr val="bg1"/>
              </a:solidFill>
              <a:latin typeface="Arial Black" panose="020B0A04020102020204" pitchFamily="34" charset="0"/>
            </a:endParaRPr>
          </a:p>
        </p:txBody>
      </p:sp>
    </p:spTree>
    <p:extLst>
      <p:ext uri="{BB962C8B-B14F-4D97-AF65-F5344CB8AC3E}">
        <p14:creationId xmlns:p14="http://schemas.microsoft.com/office/powerpoint/2010/main" val="62472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C6BECC8-DD9B-C067-99EF-CC3D04BA6162}"/>
              </a:ext>
            </a:extLst>
          </p:cNvPr>
          <p:cNvSpPr txBox="1"/>
          <p:nvPr/>
        </p:nvSpPr>
        <p:spPr>
          <a:xfrm>
            <a:off x="232820" y="1322029"/>
            <a:ext cx="11726360" cy="3997633"/>
          </a:xfrm>
          <a:prstGeom prst="rect">
            <a:avLst/>
          </a:prstGeom>
          <a:noFill/>
          <a:ln>
            <a:noFill/>
          </a:ln>
        </p:spPr>
        <p:txBody>
          <a:bodyPr wrap="square">
            <a:spAutoFit/>
          </a:bodyPr>
          <a:lstStyle/>
          <a:p>
            <a:pPr algn="just">
              <a:lnSpc>
                <a:spcPct val="150000"/>
              </a:lnSpc>
              <a:buNone/>
            </a:pPr>
            <a:r>
              <a:rPr lang="en-US" sz="2800" dirty="0"/>
              <a:t>						</a:t>
            </a:r>
            <a:r>
              <a:rPr lang="en-US" sz="2400" dirty="0"/>
              <a:t>With the rapid growth of digitalization, cybercriminals have taken advantage of the internet to launch various attacks. One of the most common tactics is the use of </a:t>
            </a:r>
            <a:r>
              <a:rPr lang="en-US" sz="2400" b="1" dirty="0"/>
              <a:t>malicious URLs</a:t>
            </a:r>
            <a:r>
              <a:rPr lang="en-US" sz="2400" dirty="0"/>
              <a:t> to trick individuals and systems into revealing sensitive information, such as personal identity data and financial account details. </a:t>
            </a:r>
            <a:r>
              <a:rPr lang="en-US" sz="2400" b="1" dirty="0"/>
              <a:t>Phishing</a:t>
            </a:r>
            <a:r>
              <a:rPr lang="en-US" sz="2400" dirty="0"/>
              <a:t> is a form of cybercrime that relies on </a:t>
            </a:r>
            <a:r>
              <a:rPr lang="en-US" sz="2400" b="1" dirty="0"/>
              <a:t>social engineering</a:t>
            </a:r>
            <a:r>
              <a:rPr lang="en-US" sz="2400" dirty="0"/>
              <a:t> to deceive victims. Attackers create fake but convincing websites or messages to steal login credentials, credit card information, and other sensitive data.</a:t>
            </a:r>
            <a:endParaRPr lang="en-US" sz="2800" dirty="0"/>
          </a:p>
        </p:txBody>
      </p:sp>
      <p:sp>
        <p:nvSpPr>
          <p:cNvPr id="8" name="object 2">
            <a:extLst>
              <a:ext uri="{FF2B5EF4-FFF2-40B4-BE49-F238E27FC236}">
                <a16:creationId xmlns:a16="http://schemas.microsoft.com/office/drawing/2014/main" id="{DC7561AB-E843-542F-35E4-5D808884567F}"/>
              </a:ext>
            </a:extLst>
          </p:cNvPr>
          <p:cNvSpPr txBox="1">
            <a:spLocks/>
          </p:cNvSpPr>
          <p:nvPr/>
        </p:nvSpPr>
        <p:spPr>
          <a:xfrm>
            <a:off x="802285" y="440324"/>
            <a:ext cx="10827145" cy="538609"/>
          </a:xfrm>
          <a:prstGeom prst="rect">
            <a:avLst/>
          </a:prstGeom>
          <a:solidFill>
            <a:srgbClr val="FFFFFF">
              <a:alpha val="19999"/>
            </a:srgbClr>
          </a:solidFill>
          <a:effectLst>
            <a:outerShdw blurRad="25400" dir="17880000">
              <a:srgbClr val="000000">
                <a:alpha val="46000"/>
              </a:srgbClr>
            </a:outerShdw>
          </a:effectLst>
        </p:spPr>
        <p:txBody>
          <a:bodyPr vert="horz" wrap="square" lIns="0" tIns="0" rIns="0" bIns="0" rtlCol="0" anchor="b">
            <a:spAutoFit/>
          </a:bodyPr>
          <a:lstStyle>
            <a:lvl1pPr algn="ctr" defTabSz="457200" rtl="0" eaLnBrk="1" latinLnBrk="0" hangingPunct="1">
              <a:spcBef>
                <a:spcPct val="0"/>
              </a:spcBef>
              <a:buNone/>
              <a:defRPr sz="5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90805">
              <a:lnSpc>
                <a:spcPts val="4175"/>
              </a:lnSpc>
            </a:pPr>
            <a:r>
              <a:rPr lang="en-IN" sz="4000" spc="-5" dirty="0">
                <a:solidFill>
                  <a:srgbClr val="FFFF00"/>
                </a:solidFill>
              </a:rPr>
              <a:t>Introduction</a:t>
            </a:r>
          </a:p>
        </p:txBody>
      </p:sp>
    </p:spTree>
    <p:extLst>
      <p:ext uri="{BB962C8B-B14F-4D97-AF65-F5344CB8AC3E}">
        <p14:creationId xmlns:p14="http://schemas.microsoft.com/office/powerpoint/2010/main" val="738873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27F8DCB1-84FE-1124-4C65-E1EEF451DBD4}"/>
              </a:ext>
            </a:extLst>
          </p:cNvPr>
          <p:cNvSpPr txBox="1"/>
          <p:nvPr/>
        </p:nvSpPr>
        <p:spPr>
          <a:xfrm>
            <a:off x="167148" y="2030540"/>
            <a:ext cx="12024851" cy="2796920"/>
          </a:xfrm>
          <a:prstGeom prst="rect">
            <a:avLst/>
          </a:prstGeom>
          <a:noFill/>
          <a:ln>
            <a:noFill/>
          </a:ln>
        </p:spPr>
        <p:txBody>
          <a:bodyPr wrap="square">
            <a:spAutoFit/>
          </a:bodyPr>
          <a:lstStyle/>
          <a:p>
            <a:pPr marL="457200" indent="-457200">
              <a:lnSpc>
                <a:spcPct val="150000"/>
              </a:lnSpc>
              <a:buFont typeface="Wingdings" panose="05000000000000000000" pitchFamily="2" charset="2"/>
              <a:buChar char="v"/>
            </a:pPr>
            <a:r>
              <a:rPr lang="en-US" sz="2400" b="1" dirty="0"/>
              <a:t>The objective of the project is to classify URLs based on the features and behaviors of URLs. </a:t>
            </a:r>
          </a:p>
          <a:p>
            <a:pPr marL="457200" lvl="0" indent="-457200">
              <a:lnSpc>
                <a:spcPct val="150000"/>
              </a:lnSpc>
              <a:buFont typeface="Wingdings" panose="05000000000000000000" pitchFamily="2" charset="2"/>
              <a:buChar char="v"/>
            </a:pPr>
            <a:r>
              <a:rPr lang="en-US" sz="2400" b="1" dirty="0"/>
              <a:t>Protecting the user network from malicious attacks</a:t>
            </a:r>
            <a:r>
              <a:rPr lang="en-US" sz="2400" dirty="0"/>
              <a:t>.</a:t>
            </a:r>
            <a:endParaRPr lang="en-US" sz="2400" b="1" dirty="0"/>
          </a:p>
          <a:p>
            <a:pPr marL="457200" indent="-457200">
              <a:lnSpc>
                <a:spcPct val="150000"/>
              </a:lnSpc>
              <a:buFont typeface="Wingdings" panose="05000000000000000000" pitchFamily="2" charset="2"/>
              <a:buChar char="v"/>
            </a:pPr>
            <a:r>
              <a:rPr lang="en-US" sz="2400" b="1" dirty="0"/>
              <a:t>Prevents users from unauthorized access to the network.</a:t>
            </a:r>
          </a:p>
          <a:p>
            <a:pPr marL="457200" indent="-457200">
              <a:lnSpc>
                <a:spcPct val="150000"/>
              </a:lnSpc>
              <a:buFont typeface="Wingdings" panose="05000000000000000000" pitchFamily="2" charset="2"/>
              <a:buChar char="v"/>
            </a:pPr>
            <a:r>
              <a:rPr lang="en-US" sz="2400" b="1" dirty="0"/>
              <a:t>Detecting malicious URLs with machine learning to protect users from cyber threats.</a:t>
            </a:r>
          </a:p>
        </p:txBody>
      </p:sp>
      <p:sp>
        <p:nvSpPr>
          <p:cNvPr id="2" name="object 2">
            <a:extLst>
              <a:ext uri="{FF2B5EF4-FFF2-40B4-BE49-F238E27FC236}">
                <a16:creationId xmlns:a16="http://schemas.microsoft.com/office/drawing/2014/main" id="{219B0CF4-0367-78E3-E484-8EA362921F0D}"/>
              </a:ext>
            </a:extLst>
          </p:cNvPr>
          <p:cNvSpPr txBox="1">
            <a:spLocks noGrp="1"/>
          </p:cNvSpPr>
          <p:nvPr>
            <p:ph type="title"/>
          </p:nvPr>
        </p:nvSpPr>
        <p:spPr>
          <a:xfrm>
            <a:off x="467361" y="651314"/>
            <a:ext cx="11490960" cy="500137"/>
          </a:xfrm>
          <a:prstGeom prst="rect">
            <a:avLst/>
          </a:prstGeom>
          <a:solidFill>
            <a:srgbClr val="FFFFFF">
              <a:alpha val="19999"/>
            </a:srgbClr>
          </a:solidFill>
        </p:spPr>
        <p:txBody>
          <a:bodyPr vert="horz" wrap="square" lIns="0" tIns="0" rIns="0" bIns="0" rtlCol="0">
            <a:spAutoFit/>
          </a:bodyPr>
          <a:lstStyle/>
          <a:p>
            <a:pPr marL="90805">
              <a:lnSpc>
                <a:spcPts val="3895"/>
              </a:lnSpc>
            </a:pPr>
            <a:r>
              <a:rPr spc="-5" dirty="0">
                <a:solidFill>
                  <a:srgbClr val="FFFF00"/>
                </a:solidFill>
              </a:rPr>
              <a:t>Objectives</a:t>
            </a:r>
          </a:p>
        </p:txBody>
      </p:sp>
    </p:spTree>
    <p:extLst>
      <p:ext uri="{BB962C8B-B14F-4D97-AF65-F5344CB8AC3E}">
        <p14:creationId xmlns:p14="http://schemas.microsoft.com/office/powerpoint/2010/main" val="3290065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10DFDBB-FADF-EE45-1630-81A16EE7F6FF}"/>
              </a:ext>
            </a:extLst>
          </p:cNvPr>
          <p:cNvSpPr txBox="1"/>
          <p:nvPr/>
        </p:nvSpPr>
        <p:spPr>
          <a:xfrm>
            <a:off x="108810" y="2030540"/>
            <a:ext cx="11765280" cy="2796920"/>
          </a:xfrm>
          <a:prstGeom prst="rect">
            <a:avLst/>
          </a:prstGeom>
          <a:noFill/>
          <a:ln>
            <a:noFill/>
          </a:ln>
        </p:spPr>
        <p:txBody>
          <a:bodyPr wrap="square">
            <a:spAutoFit/>
          </a:bodyPr>
          <a:lstStyle/>
          <a:p>
            <a:pPr lvl="1" algn="just">
              <a:lnSpc>
                <a:spcPct val="150000"/>
              </a:lnSpc>
            </a:pPr>
            <a:r>
              <a:rPr lang="en-US" sz="2400" b="1" dirty="0"/>
              <a:t>				</a:t>
            </a:r>
            <a:r>
              <a:rPr lang="en-US" sz="2400" dirty="0"/>
              <a:t>A popular approach in detecting malicious activity on the web is by leveraging distinguishing features between malicious and benign DNS usage. Both passive DNS monitoring and active DNS probing methods have been used to identify malicious domains. The best-known non-proprietary content-based approach to detect phishing webpages is Cantina.</a:t>
            </a:r>
          </a:p>
        </p:txBody>
      </p:sp>
      <p:sp>
        <p:nvSpPr>
          <p:cNvPr id="7" name="TextBox 6">
            <a:extLst>
              <a:ext uri="{FF2B5EF4-FFF2-40B4-BE49-F238E27FC236}">
                <a16:creationId xmlns:a16="http://schemas.microsoft.com/office/drawing/2014/main" id="{192D7BC8-C538-AB3B-2AF0-21B67C9F9B57}"/>
              </a:ext>
            </a:extLst>
          </p:cNvPr>
          <p:cNvSpPr txBox="1"/>
          <p:nvPr/>
        </p:nvSpPr>
        <p:spPr>
          <a:xfrm>
            <a:off x="3302000" y="903601"/>
            <a:ext cx="6096000" cy="769441"/>
          </a:xfrm>
          <a:prstGeom prst="rect">
            <a:avLst/>
          </a:prstGeom>
          <a:noFill/>
          <a:ln>
            <a:noFill/>
          </a:ln>
        </p:spPr>
        <p:txBody>
          <a:bodyPr wrap="square">
            <a:spAutoFit/>
          </a:bodyPr>
          <a:lstStyle/>
          <a:p>
            <a:pPr algn="ctr"/>
            <a:r>
              <a:rPr lang="en-IN" sz="4400" b="1" dirty="0">
                <a:solidFill>
                  <a:srgbClr val="FFFF00"/>
                </a:solidFill>
                <a:latin typeface="+mj-lt"/>
              </a:rPr>
              <a:t>Existing System</a:t>
            </a:r>
          </a:p>
        </p:txBody>
      </p:sp>
    </p:spTree>
    <p:extLst>
      <p:ext uri="{BB962C8B-B14F-4D97-AF65-F5344CB8AC3E}">
        <p14:creationId xmlns:p14="http://schemas.microsoft.com/office/powerpoint/2010/main" val="7140164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455F2C-5F84-5513-FAB0-CC0838275BA2}"/>
              </a:ext>
            </a:extLst>
          </p:cNvPr>
          <p:cNvSpPr txBox="1"/>
          <p:nvPr/>
        </p:nvSpPr>
        <p:spPr>
          <a:xfrm>
            <a:off x="294640" y="1663283"/>
            <a:ext cx="11135360" cy="3913059"/>
          </a:xfrm>
          <a:prstGeom prst="rect">
            <a:avLst/>
          </a:prstGeom>
          <a:noFill/>
          <a:ln>
            <a:noFill/>
          </a:ln>
        </p:spPr>
        <p:txBody>
          <a:bodyPr wrap="square">
            <a:spAutoFit/>
          </a:bodyPr>
          <a:lstStyle/>
          <a:p>
            <a:pPr marL="342900" lvl="0" indent="-342900" algn="just">
              <a:lnSpc>
                <a:spcPct val="150000"/>
              </a:lnSpc>
              <a:buFont typeface="Wingdings" panose="05000000000000000000" pitchFamily="2" charset="2"/>
              <a:buChar char="Ø"/>
            </a:pPr>
            <a:r>
              <a:rPr lang="en-US" sz="2400" b="1" dirty="0"/>
              <a:t>DNS-based mechanisms do not provide a deeper understanding of the specific activity implemented by a webpage or domain.</a:t>
            </a:r>
          </a:p>
          <a:p>
            <a:pPr marL="342900" lvl="0" indent="-342900" algn="just">
              <a:lnSpc>
                <a:spcPct val="150000"/>
              </a:lnSpc>
              <a:buFont typeface="Wingdings" panose="05000000000000000000" pitchFamily="2" charset="2"/>
              <a:buChar char="Ø"/>
            </a:pPr>
            <a:r>
              <a:rPr lang="en-US" sz="2400" b="1" dirty="0"/>
              <a:t>Downloading and executing each webpage impacts performance and hinders the scalability of dynamic approaches.</a:t>
            </a:r>
          </a:p>
          <a:p>
            <a:pPr marL="342900" lvl="0" indent="-342900" algn="just">
              <a:lnSpc>
                <a:spcPct val="150000"/>
              </a:lnSpc>
              <a:buFont typeface="Wingdings" panose="05000000000000000000" pitchFamily="2" charset="2"/>
              <a:buChar char="Ø"/>
            </a:pPr>
            <a:r>
              <a:rPr lang="en-US" sz="2400" b="1" dirty="0"/>
              <a:t>URL-based techniques usually suffer from high false positive rates.</a:t>
            </a:r>
          </a:p>
          <a:p>
            <a:pPr marL="342900" lvl="0" indent="-342900" algn="just">
              <a:lnSpc>
                <a:spcPct val="150000"/>
              </a:lnSpc>
              <a:buFont typeface="Wingdings" panose="05000000000000000000" pitchFamily="2" charset="2"/>
              <a:buChar char="Ø"/>
            </a:pPr>
            <a:r>
              <a:rPr lang="en-US" sz="2400" b="1" dirty="0"/>
              <a:t>Finally, existing techniques do not account for new mobile threats such as known fraud phone numbers that attempt to trigger the dialer on the phone.</a:t>
            </a:r>
          </a:p>
        </p:txBody>
      </p:sp>
      <p:sp>
        <p:nvSpPr>
          <p:cNvPr id="5" name="TextBox 4">
            <a:extLst>
              <a:ext uri="{FF2B5EF4-FFF2-40B4-BE49-F238E27FC236}">
                <a16:creationId xmlns:a16="http://schemas.microsoft.com/office/drawing/2014/main" id="{5307FF48-6A41-3DCA-3090-3A211A3DE4C4}"/>
              </a:ext>
            </a:extLst>
          </p:cNvPr>
          <p:cNvSpPr txBox="1"/>
          <p:nvPr/>
        </p:nvSpPr>
        <p:spPr>
          <a:xfrm>
            <a:off x="1351280" y="773112"/>
            <a:ext cx="9692640" cy="646331"/>
          </a:xfrm>
          <a:prstGeom prst="rect">
            <a:avLst/>
          </a:prstGeom>
          <a:noFill/>
          <a:ln>
            <a:noFill/>
          </a:ln>
        </p:spPr>
        <p:txBody>
          <a:bodyPr wrap="square">
            <a:spAutoFit/>
          </a:bodyPr>
          <a:lstStyle/>
          <a:p>
            <a:r>
              <a:rPr lang="en-US" sz="3600" b="1" dirty="0">
                <a:solidFill>
                  <a:srgbClr val="FFFF00"/>
                </a:solidFill>
                <a:latin typeface="Algerian" panose="04020705040A02060702" pitchFamily="82" charset="0"/>
              </a:rPr>
              <a:t>Disadvantages of an Existing System</a:t>
            </a:r>
            <a:endParaRPr lang="en-IN" sz="3600" b="1" dirty="0">
              <a:solidFill>
                <a:srgbClr val="FFFF00"/>
              </a:solidFill>
              <a:latin typeface="Algerian" panose="04020705040A02060702" pitchFamily="82" charset="0"/>
            </a:endParaRPr>
          </a:p>
        </p:txBody>
      </p:sp>
    </p:spTree>
    <p:extLst>
      <p:ext uri="{BB962C8B-B14F-4D97-AF65-F5344CB8AC3E}">
        <p14:creationId xmlns:p14="http://schemas.microsoft.com/office/powerpoint/2010/main" val="16546629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423A861-9F46-E319-F912-AC15E938D4DD}"/>
              </a:ext>
            </a:extLst>
          </p:cNvPr>
          <p:cNvSpPr txBox="1"/>
          <p:nvPr/>
        </p:nvSpPr>
        <p:spPr>
          <a:xfrm>
            <a:off x="3048000" y="369054"/>
            <a:ext cx="6096000" cy="646331"/>
          </a:xfrm>
          <a:prstGeom prst="rect">
            <a:avLst/>
          </a:prstGeom>
          <a:noFill/>
          <a:ln>
            <a:noFill/>
          </a:ln>
        </p:spPr>
        <p:txBody>
          <a:bodyPr wrap="square">
            <a:spAutoFit/>
          </a:bodyPr>
          <a:lstStyle/>
          <a:p>
            <a:pPr algn="ctr"/>
            <a:r>
              <a:rPr lang="en-US" sz="3600" b="1" dirty="0">
                <a:solidFill>
                  <a:srgbClr val="FFFF00"/>
                </a:solidFill>
                <a:effectLst/>
                <a:latin typeface="Algerian" panose="04020705040A02060702" pitchFamily="82" charset="0"/>
                <a:cs typeface="Times New Roman" panose="02020603050405020304" pitchFamily="18" charset="0"/>
              </a:rPr>
              <a:t>Proposed System</a:t>
            </a:r>
            <a:endParaRPr lang="en-IN" sz="3600" b="1" dirty="0">
              <a:solidFill>
                <a:srgbClr val="FFFF00"/>
              </a:solidFill>
              <a:latin typeface="Algerian" panose="04020705040A02060702" pitchFamily="82" charset="0"/>
            </a:endParaRPr>
          </a:p>
        </p:txBody>
      </p:sp>
      <p:sp>
        <p:nvSpPr>
          <p:cNvPr id="5" name="TextBox 4">
            <a:extLst>
              <a:ext uri="{FF2B5EF4-FFF2-40B4-BE49-F238E27FC236}">
                <a16:creationId xmlns:a16="http://schemas.microsoft.com/office/drawing/2014/main" id="{20AFC6CF-2DD1-1597-3415-56F3793BCF2C}"/>
              </a:ext>
            </a:extLst>
          </p:cNvPr>
          <p:cNvSpPr txBox="1"/>
          <p:nvPr/>
        </p:nvSpPr>
        <p:spPr>
          <a:xfrm>
            <a:off x="416560" y="1192062"/>
            <a:ext cx="11358880" cy="3904915"/>
          </a:xfrm>
          <a:prstGeom prst="rect">
            <a:avLst/>
          </a:prstGeom>
          <a:noFill/>
          <a:ln>
            <a:noFill/>
          </a:ln>
        </p:spPr>
        <p:txBody>
          <a:bodyPr wrap="square">
            <a:spAutoFit/>
          </a:bodyPr>
          <a:lstStyle/>
          <a:p>
            <a:pPr algn="just">
              <a:lnSpc>
                <a:spcPct val="150000"/>
              </a:lnSpc>
            </a:pPr>
            <a:r>
              <a:rPr lang="en-US" sz="2400" b="1" dirty="0"/>
              <a:t>								In the proposed system, machine learning algorithms are used to classify URLs based on the features and behaviors of URLs. The features are extracted from static and dynamic behaviors of URLs and are new to the literature.  Those newly proposed features are the main contribution of the research. Machine learning algorithms are a part of the whole malicious and phishing URL detection system. Three supervised machine learning algorithms are used, Support vector machine, Random forest  and Logistic Regression.</a:t>
            </a:r>
          </a:p>
        </p:txBody>
      </p:sp>
    </p:spTree>
    <p:extLst>
      <p:ext uri="{BB962C8B-B14F-4D97-AF65-F5344CB8AC3E}">
        <p14:creationId xmlns:p14="http://schemas.microsoft.com/office/powerpoint/2010/main" val="26778680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8AF9697-C0AB-7D5F-2DFB-B0F6A2D21684}"/>
              </a:ext>
            </a:extLst>
          </p:cNvPr>
          <p:cNvSpPr txBox="1"/>
          <p:nvPr/>
        </p:nvSpPr>
        <p:spPr>
          <a:xfrm>
            <a:off x="2952955" y="891802"/>
            <a:ext cx="6096000" cy="646331"/>
          </a:xfrm>
          <a:prstGeom prst="rect">
            <a:avLst/>
          </a:prstGeom>
          <a:noFill/>
          <a:ln>
            <a:noFill/>
          </a:ln>
        </p:spPr>
        <p:txBody>
          <a:bodyPr wrap="square">
            <a:spAutoFit/>
          </a:bodyPr>
          <a:lstStyle/>
          <a:p>
            <a:pPr algn="ctr"/>
            <a:r>
              <a:rPr lang="en-US" sz="3600" b="1" dirty="0">
                <a:solidFill>
                  <a:srgbClr val="FFFF00"/>
                </a:solidFill>
                <a:latin typeface="Algerian" panose="04020705040A02060702" pitchFamily="82" charset="0"/>
                <a:cs typeface="Times New Roman" panose="02020603050405020304" pitchFamily="18" charset="0"/>
              </a:rPr>
              <a:t>Advantages</a:t>
            </a:r>
            <a:endParaRPr lang="en-IN" sz="3600" b="1" dirty="0">
              <a:solidFill>
                <a:srgbClr val="FFFF00"/>
              </a:solidFill>
              <a:latin typeface="Algerian" panose="04020705040A02060702" pitchFamily="82" charset="0"/>
              <a:cs typeface="Times New Roman" panose="02020603050405020304" pitchFamily="18" charset="0"/>
            </a:endParaRPr>
          </a:p>
        </p:txBody>
      </p:sp>
      <p:sp>
        <p:nvSpPr>
          <p:cNvPr id="5" name="TextBox 4">
            <a:extLst>
              <a:ext uri="{FF2B5EF4-FFF2-40B4-BE49-F238E27FC236}">
                <a16:creationId xmlns:a16="http://schemas.microsoft.com/office/drawing/2014/main" id="{8D6A755D-CEC0-D83D-5CA4-A9F0461FCA4E}"/>
              </a:ext>
            </a:extLst>
          </p:cNvPr>
          <p:cNvSpPr txBox="1"/>
          <p:nvPr/>
        </p:nvSpPr>
        <p:spPr>
          <a:xfrm>
            <a:off x="400254" y="2004510"/>
            <a:ext cx="11791745" cy="3248069"/>
          </a:xfrm>
          <a:prstGeom prst="rect">
            <a:avLst/>
          </a:prstGeom>
          <a:noFill/>
          <a:ln>
            <a:noFill/>
          </a:ln>
        </p:spPr>
        <p:txBody>
          <a:bodyPr wrap="square">
            <a:spAutoFit/>
          </a:bodyPr>
          <a:lstStyle/>
          <a:p>
            <a:pPr marL="285750" lvl="0" indent="-285750">
              <a:lnSpc>
                <a:spcPct val="150000"/>
              </a:lnSpc>
              <a:buFont typeface="Wingdings" panose="05000000000000000000" pitchFamily="2" charset="2"/>
              <a:buChar char="Ø"/>
            </a:pPr>
            <a:r>
              <a:rPr lang="en-US" sz="2800" dirty="0"/>
              <a:t> Protecting the user network from malicious attacks.</a:t>
            </a:r>
          </a:p>
          <a:p>
            <a:pPr marL="285750" lvl="0" indent="-285750">
              <a:lnSpc>
                <a:spcPct val="150000"/>
              </a:lnSpc>
              <a:buFont typeface="Wingdings" panose="05000000000000000000" pitchFamily="2" charset="2"/>
              <a:buChar char="Ø"/>
            </a:pPr>
            <a:r>
              <a:rPr lang="en-US" sz="2800" dirty="0"/>
              <a:t>Prevents users from unauthorized access to the network.</a:t>
            </a:r>
          </a:p>
          <a:p>
            <a:pPr marL="285750" lvl="0" indent="-285750">
              <a:lnSpc>
                <a:spcPct val="150000"/>
              </a:lnSpc>
              <a:buFont typeface="Wingdings" panose="05000000000000000000" pitchFamily="2" charset="2"/>
              <a:buChar char="Ø"/>
            </a:pPr>
            <a:r>
              <a:rPr lang="en-US" sz="2800" dirty="0"/>
              <a:t>Securing confidential information</a:t>
            </a:r>
          </a:p>
          <a:p>
            <a:pPr marL="285750" lvl="0" indent="-285750">
              <a:lnSpc>
                <a:spcPct val="150000"/>
              </a:lnSpc>
              <a:buFont typeface="Wingdings" panose="05000000000000000000" pitchFamily="2" charset="2"/>
              <a:buChar char="Ø"/>
            </a:pPr>
            <a:r>
              <a:rPr lang="en-US" sz="2800" dirty="0"/>
              <a:t>In the proposed work, SVM is selected as an example to illustrate the good performance of the whole detection system and is not our main focus. </a:t>
            </a:r>
          </a:p>
        </p:txBody>
      </p:sp>
    </p:spTree>
    <p:extLst>
      <p:ext uri="{BB962C8B-B14F-4D97-AF65-F5344CB8AC3E}">
        <p14:creationId xmlns:p14="http://schemas.microsoft.com/office/powerpoint/2010/main" val="16674275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79431AC-539E-9DFC-3B95-308B3DC54803}"/>
              </a:ext>
            </a:extLst>
          </p:cNvPr>
          <p:cNvSpPr txBox="1"/>
          <p:nvPr/>
        </p:nvSpPr>
        <p:spPr>
          <a:xfrm>
            <a:off x="3190240" y="1381777"/>
            <a:ext cx="6096000" cy="584775"/>
          </a:xfrm>
          <a:prstGeom prst="rect">
            <a:avLst/>
          </a:prstGeom>
          <a:noFill/>
          <a:ln>
            <a:noFill/>
          </a:ln>
        </p:spPr>
        <p:txBody>
          <a:bodyPr wrap="square">
            <a:spAutoFit/>
          </a:bodyPr>
          <a:lstStyle/>
          <a:p>
            <a:pPr algn="ctr"/>
            <a:r>
              <a:rPr lang="en-US" sz="3200" b="1" dirty="0">
                <a:solidFill>
                  <a:srgbClr val="FFFF00"/>
                </a:solidFill>
                <a:latin typeface="Algerian" panose="04020705040A02060702" pitchFamily="82" charset="0"/>
              </a:rPr>
              <a:t>System Requirements</a:t>
            </a:r>
            <a:endParaRPr lang="en-IN" sz="3200" b="1" dirty="0">
              <a:solidFill>
                <a:srgbClr val="FFFF00"/>
              </a:solidFill>
              <a:latin typeface="Algerian" panose="04020705040A02060702" pitchFamily="82" charset="0"/>
            </a:endParaRPr>
          </a:p>
        </p:txBody>
      </p:sp>
      <p:graphicFrame>
        <p:nvGraphicFramePr>
          <p:cNvPr id="8" name="Table 7">
            <a:extLst>
              <a:ext uri="{FF2B5EF4-FFF2-40B4-BE49-F238E27FC236}">
                <a16:creationId xmlns:a16="http://schemas.microsoft.com/office/drawing/2014/main" id="{F1C063E5-5580-2165-DB4E-07893B542513}"/>
              </a:ext>
            </a:extLst>
          </p:cNvPr>
          <p:cNvGraphicFramePr>
            <a:graphicFrameLocks noGrp="1"/>
          </p:cNvGraphicFramePr>
          <p:nvPr>
            <p:extLst>
              <p:ext uri="{D42A27DB-BD31-4B8C-83A1-F6EECF244321}">
                <p14:modId xmlns:p14="http://schemas.microsoft.com/office/powerpoint/2010/main" val="1284649487"/>
              </p:ext>
            </p:extLst>
          </p:nvPr>
        </p:nvGraphicFramePr>
        <p:xfrm>
          <a:off x="1371600" y="2876973"/>
          <a:ext cx="4886962" cy="1107440"/>
        </p:xfrm>
        <a:graphic>
          <a:graphicData uri="http://schemas.openxmlformats.org/drawingml/2006/table">
            <a:tbl>
              <a:tblPr firstRow="1" bandRow="1">
                <a:tableStyleId>{E8034E78-7F5D-4C2E-B375-FC64B27BC917}</a:tableStyleId>
              </a:tblPr>
              <a:tblGrid>
                <a:gridCol w="2443481">
                  <a:extLst>
                    <a:ext uri="{9D8B030D-6E8A-4147-A177-3AD203B41FA5}">
                      <a16:colId xmlns:a16="http://schemas.microsoft.com/office/drawing/2014/main" val="1254811461"/>
                    </a:ext>
                  </a:extLst>
                </a:gridCol>
                <a:gridCol w="2443481">
                  <a:extLst>
                    <a:ext uri="{9D8B030D-6E8A-4147-A177-3AD203B41FA5}">
                      <a16:colId xmlns:a16="http://schemas.microsoft.com/office/drawing/2014/main" val="3652473697"/>
                    </a:ext>
                  </a:extLst>
                </a:gridCol>
              </a:tblGrid>
              <a:tr h="0">
                <a:tc>
                  <a:txBody>
                    <a:bodyPr/>
                    <a:lstStyle/>
                    <a:p>
                      <a:r>
                        <a:rPr lang="en-US" dirty="0">
                          <a:solidFill>
                            <a:schemeClr val="bg1"/>
                          </a:solidFill>
                        </a:rPr>
                        <a:t>System</a:t>
                      </a:r>
                      <a:endParaRPr lang="en-IN" dirty="0">
                        <a:solidFill>
                          <a:schemeClr val="bg1"/>
                        </a:solidFill>
                      </a:endParaRPr>
                    </a:p>
                  </a:txBody>
                  <a:tcPr>
                    <a:solidFill>
                      <a:schemeClr val="tx1">
                        <a:lumMod val="75000"/>
                      </a:schemeClr>
                    </a:solidFill>
                  </a:tcPr>
                </a:tc>
                <a:tc>
                  <a:txBody>
                    <a:bodyPr/>
                    <a:lstStyle/>
                    <a:p>
                      <a:r>
                        <a:rPr lang="en-US" dirty="0">
                          <a:solidFill>
                            <a:schemeClr val="bg1"/>
                          </a:solidFill>
                        </a:rPr>
                        <a:t>I5 Processor</a:t>
                      </a:r>
                      <a:endParaRPr lang="en-IN" dirty="0">
                        <a:solidFill>
                          <a:schemeClr val="bg1"/>
                        </a:solidFill>
                      </a:endParaRPr>
                    </a:p>
                  </a:txBody>
                  <a:tcPr>
                    <a:solidFill>
                      <a:schemeClr val="tx1">
                        <a:lumMod val="75000"/>
                      </a:schemeClr>
                    </a:solidFill>
                  </a:tcPr>
                </a:tc>
                <a:extLst>
                  <a:ext uri="{0D108BD9-81ED-4DB2-BD59-A6C34878D82A}">
                    <a16:rowId xmlns:a16="http://schemas.microsoft.com/office/drawing/2014/main" val="3835298733"/>
                  </a:ext>
                </a:extLst>
              </a:tr>
              <a:tr h="370840">
                <a:tc>
                  <a:txBody>
                    <a:bodyPr/>
                    <a:lstStyle/>
                    <a:p>
                      <a:r>
                        <a:rPr lang="en-US" dirty="0">
                          <a:solidFill>
                            <a:schemeClr val="bg1"/>
                          </a:solidFill>
                        </a:rPr>
                        <a:t>Hard Disk </a:t>
                      </a:r>
                      <a:endParaRPr lang="en-IN" dirty="0">
                        <a:solidFill>
                          <a:schemeClr val="bg1"/>
                        </a:solidFill>
                      </a:endParaRP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500 GB</a:t>
                      </a:r>
                    </a:p>
                  </a:txBody>
                  <a:tcPr>
                    <a:solidFill>
                      <a:schemeClr val="tx1">
                        <a:lumMod val="85000"/>
                      </a:schemeClr>
                    </a:solidFill>
                  </a:tcPr>
                </a:tc>
                <a:extLst>
                  <a:ext uri="{0D108BD9-81ED-4DB2-BD59-A6C34878D82A}">
                    <a16:rowId xmlns:a16="http://schemas.microsoft.com/office/drawing/2014/main" val="4111583464"/>
                  </a:ext>
                </a:extLst>
              </a:tr>
              <a:tr h="370840">
                <a:tc>
                  <a:txBody>
                    <a:bodyPr/>
                    <a:lstStyle/>
                    <a:p>
                      <a:r>
                        <a:rPr lang="en-US" dirty="0">
                          <a:solidFill>
                            <a:schemeClr val="bg1"/>
                          </a:solidFill>
                        </a:rPr>
                        <a:t>RAM</a:t>
                      </a:r>
                      <a:endParaRPr lang="en-IN" dirty="0">
                        <a:solidFill>
                          <a:schemeClr val="bg1"/>
                        </a:solidFill>
                      </a:endParaRPr>
                    </a:p>
                  </a:txBody>
                  <a:tcPr/>
                </a:tc>
                <a:tc>
                  <a:txBody>
                    <a:bodyPr/>
                    <a:lstStyle/>
                    <a:p>
                      <a:r>
                        <a:rPr lang="en-US" b="0" dirty="0">
                          <a:solidFill>
                            <a:schemeClr val="bg1"/>
                          </a:solidFill>
                        </a:rPr>
                        <a:t>2 GB</a:t>
                      </a:r>
                      <a:endParaRPr lang="en-IN" b="0" dirty="0">
                        <a:solidFill>
                          <a:schemeClr val="bg1"/>
                        </a:solidFill>
                      </a:endParaRPr>
                    </a:p>
                  </a:txBody>
                  <a:tcPr/>
                </a:tc>
                <a:extLst>
                  <a:ext uri="{0D108BD9-81ED-4DB2-BD59-A6C34878D82A}">
                    <a16:rowId xmlns:a16="http://schemas.microsoft.com/office/drawing/2014/main" val="249742643"/>
                  </a:ext>
                </a:extLst>
              </a:tr>
            </a:tbl>
          </a:graphicData>
        </a:graphic>
      </p:graphicFrame>
      <p:graphicFrame>
        <p:nvGraphicFramePr>
          <p:cNvPr id="12" name="Table 11">
            <a:extLst>
              <a:ext uri="{FF2B5EF4-FFF2-40B4-BE49-F238E27FC236}">
                <a16:creationId xmlns:a16="http://schemas.microsoft.com/office/drawing/2014/main" id="{1912ADA6-A1E1-D41A-60D1-A958EAD8E27A}"/>
              </a:ext>
            </a:extLst>
          </p:cNvPr>
          <p:cNvGraphicFramePr>
            <a:graphicFrameLocks noGrp="1"/>
          </p:cNvGraphicFramePr>
          <p:nvPr>
            <p:extLst>
              <p:ext uri="{D42A27DB-BD31-4B8C-83A1-F6EECF244321}">
                <p14:modId xmlns:p14="http://schemas.microsoft.com/office/powerpoint/2010/main" val="1844620690"/>
              </p:ext>
            </p:extLst>
          </p:nvPr>
        </p:nvGraphicFramePr>
        <p:xfrm>
          <a:off x="6238240" y="2876974"/>
          <a:ext cx="4886960" cy="1104052"/>
        </p:xfrm>
        <a:graphic>
          <a:graphicData uri="http://schemas.openxmlformats.org/drawingml/2006/table">
            <a:tbl>
              <a:tblPr firstRow="1" bandRow="1">
                <a:tableStyleId>{073A0DAA-6AF3-43AB-8588-CEC1D06C72B9}</a:tableStyleId>
              </a:tblPr>
              <a:tblGrid>
                <a:gridCol w="2443480">
                  <a:extLst>
                    <a:ext uri="{9D8B030D-6E8A-4147-A177-3AD203B41FA5}">
                      <a16:colId xmlns:a16="http://schemas.microsoft.com/office/drawing/2014/main" val="2363450111"/>
                    </a:ext>
                  </a:extLst>
                </a:gridCol>
                <a:gridCol w="2443480">
                  <a:extLst>
                    <a:ext uri="{9D8B030D-6E8A-4147-A177-3AD203B41FA5}">
                      <a16:colId xmlns:a16="http://schemas.microsoft.com/office/drawing/2014/main" val="1841541684"/>
                    </a:ext>
                  </a:extLst>
                </a:gridCol>
              </a:tblGrid>
              <a:tr h="369146">
                <a:tc>
                  <a:txBody>
                    <a:bodyPr/>
                    <a:lstStyle/>
                    <a:p>
                      <a:r>
                        <a:rPr lang="en-US" dirty="0">
                          <a:solidFill>
                            <a:schemeClr val="bg1"/>
                          </a:solidFill>
                        </a:rPr>
                        <a:t>Operating System	</a:t>
                      </a:r>
                      <a:endParaRPr lang="en-IN" dirty="0">
                        <a:solidFill>
                          <a:schemeClr val="bg1"/>
                        </a:solidFill>
                      </a:endParaRPr>
                    </a:p>
                  </a:txBody>
                  <a:tcPr>
                    <a:solidFill>
                      <a:schemeClr val="tx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Windows 11</a:t>
                      </a:r>
                    </a:p>
                  </a:txBody>
                  <a:tcPr>
                    <a:solidFill>
                      <a:schemeClr val="tx1">
                        <a:lumMod val="75000"/>
                      </a:schemeClr>
                    </a:solidFill>
                  </a:tcPr>
                </a:tc>
                <a:extLst>
                  <a:ext uri="{0D108BD9-81ED-4DB2-BD59-A6C34878D82A}">
                    <a16:rowId xmlns:a16="http://schemas.microsoft.com/office/drawing/2014/main" val="1310409511"/>
                  </a:ext>
                </a:extLst>
              </a:tr>
              <a:tr h="369146">
                <a:tc>
                  <a:txBody>
                    <a:bodyPr/>
                    <a:lstStyle/>
                    <a:p>
                      <a:r>
                        <a:rPr lang="en-US" dirty="0"/>
                        <a:t>Server</a:t>
                      </a:r>
                      <a:endParaRPr lang="en-IN" dirty="0"/>
                    </a:p>
                  </a:txBody>
                  <a:tcPr>
                    <a:solidFill>
                      <a:schemeClr val="tx1">
                        <a:lumMod val="85000"/>
                      </a:schemeClr>
                    </a:solidFill>
                  </a:tcPr>
                </a:tc>
                <a:tc>
                  <a:txBody>
                    <a:bodyPr/>
                    <a:lstStyle/>
                    <a:p>
                      <a:r>
                        <a:rPr lang="en-US" dirty="0"/>
                        <a:t>WampServer</a:t>
                      </a:r>
                      <a:endParaRPr lang="en-IN" dirty="0"/>
                    </a:p>
                  </a:txBody>
                  <a:tcPr>
                    <a:solidFill>
                      <a:schemeClr val="tx1">
                        <a:lumMod val="85000"/>
                      </a:schemeClr>
                    </a:solidFill>
                  </a:tcPr>
                </a:tc>
                <a:extLst>
                  <a:ext uri="{0D108BD9-81ED-4DB2-BD59-A6C34878D82A}">
                    <a16:rowId xmlns:a16="http://schemas.microsoft.com/office/drawing/2014/main" val="2257668040"/>
                  </a:ext>
                </a:extLst>
              </a:tr>
              <a:tr h="0">
                <a:tc>
                  <a:txBody>
                    <a:bodyPr/>
                    <a:lstStyle/>
                    <a:p>
                      <a:r>
                        <a:rPr lang="en-US" dirty="0"/>
                        <a:t>Programming</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Python</a:t>
                      </a:r>
                    </a:p>
                  </a:txBody>
                  <a:tcPr/>
                </a:tc>
                <a:extLst>
                  <a:ext uri="{0D108BD9-81ED-4DB2-BD59-A6C34878D82A}">
                    <a16:rowId xmlns:a16="http://schemas.microsoft.com/office/drawing/2014/main" val="716497178"/>
                  </a:ext>
                </a:extLst>
              </a:tr>
            </a:tbl>
          </a:graphicData>
        </a:graphic>
      </p:graphicFrame>
      <p:graphicFrame>
        <p:nvGraphicFramePr>
          <p:cNvPr id="13" name="Table 12">
            <a:extLst>
              <a:ext uri="{FF2B5EF4-FFF2-40B4-BE49-F238E27FC236}">
                <a16:creationId xmlns:a16="http://schemas.microsoft.com/office/drawing/2014/main" id="{C6F8E614-28B1-BC33-7681-10E327AD663D}"/>
              </a:ext>
            </a:extLst>
          </p:cNvPr>
          <p:cNvGraphicFramePr>
            <a:graphicFrameLocks noGrp="1"/>
          </p:cNvGraphicFramePr>
          <p:nvPr>
            <p:extLst>
              <p:ext uri="{D42A27DB-BD31-4B8C-83A1-F6EECF244321}">
                <p14:modId xmlns:p14="http://schemas.microsoft.com/office/powerpoint/2010/main" val="2627888345"/>
              </p:ext>
            </p:extLst>
          </p:nvPr>
        </p:nvGraphicFramePr>
        <p:xfrm>
          <a:off x="1371600" y="2511212"/>
          <a:ext cx="9753600" cy="365760"/>
        </p:xfrm>
        <a:graphic>
          <a:graphicData uri="http://schemas.openxmlformats.org/drawingml/2006/table">
            <a:tbl>
              <a:tblPr firstRow="1" bandRow="1">
                <a:tableStyleId>{E8034E78-7F5D-4C2E-B375-FC64B27BC917}</a:tableStyleId>
              </a:tblPr>
              <a:tblGrid>
                <a:gridCol w="4876800">
                  <a:extLst>
                    <a:ext uri="{9D8B030D-6E8A-4147-A177-3AD203B41FA5}">
                      <a16:colId xmlns:a16="http://schemas.microsoft.com/office/drawing/2014/main" val="1113569439"/>
                    </a:ext>
                  </a:extLst>
                </a:gridCol>
                <a:gridCol w="4876800">
                  <a:extLst>
                    <a:ext uri="{9D8B030D-6E8A-4147-A177-3AD203B41FA5}">
                      <a16:colId xmlns:a16="http://schemas.microsoft.com/office/drawing/2014/main" val="15998459"/>
                    </a:ext>
                  </a:extLst>
                </a:gridCol>
              </a:tblGrid>
              <a:tr h="337738">
                <a:tc>
                  <a:txBody>
                    <a:bodyPr/>
                    <a:lstStyle/>
                    <a:p>
                      <a:pPr algn="ctr"/>
                      <a:r>
                        <a:rPr lang="en-US" dirty="0">
                          <a:solidFill>
                            <a:schemeClr val="bg1"/>
                          </a:solidFill>
                        </a:rPr>
                        <a:t>HARDWARE</a:t>
                      </a:r>
                      <a:endParaRPr lang="en-IN"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dirty="0">
                          <a:solidFill>
                            <a:schemeClr val="bg1"/>
                          </a:solidFill>
                        </a:rPr>
                        <a:t>SOFTWARE</a:t>
                      </a:r>
                      <a:endParaRPr lang="en-IN" dirty="0">
                        <a:solidFill>
                          <a:schemeClr val="bg1"/>
                        </a:solidFill>
                      </a:endParaRPr>
                    </a:p>
                  </a:txBody>
                  <a:tcPr>
                    <a:lnL w="12700" cap="flat" cmpd="sng" algn="ctr">
                      <a:solidFill>
                        <a:schemeClr val="tx1"/>
                      </a:solidFill>
                      <a:prstDash val="solid"/>
                      <a:round/>
                      <a:headEnd type="none" w="med" len="med"/>
                      <a:tailEnd type="none" w="med" len="med"/>
                    </a:lnL>
                    <a:solidFill>
                      <a:schemeClr val="tx2"/>
                    </a:solidFill>
                  </a:tcPr>
                </a:tc>
                <a:extLst>
                  <a:ext uri="{0D108BD9-81ED-4DB2-BD59-A6C34878D82A}">
                    <a16:rowId xmlns:a16="http://schemas.microsoft.com/office/drawing/2014/main" val="1170284358"/>
                  </a:ext>
                </a:extLst>
              </a:tr>
            </a:tbl>
          </a:graphicData>
        </a:graphic>
      </p:graphicFrame>
    </p:spTree>
    <p:extLst>
      <p:ext uri="{BB962C8B-B14F-4D97-AF65-F5344CB8AC3E}">
        <p14:creationId xmlns:p14="http://schemas.microsoft.com/office/powerpoint/2010/main" val="6108351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E5A523E9-D2E9-38AF-004C-8CF7A8C9E861}"/>
              </a:ext>
            </a:extLst>
          </p:cNvPr>
          <p:cNvSpPr txBox="1"/>
          <p:nvPr/>
        </p:nvSpPr>
        <p:spPr>
          <a:xfrm>
            <a:off x="337574" y="1278046"/>
            <a:ext cx="11720052" cy="3170099"/>
          </a:xfrm>
          <a:prstGeom prst="rect">
            <a:avLst/>
          </a:prstGeom>
          <a:noFill/>
          <a:ln>
            <a:noFill/>
          </a:ln>
        </p:spPr>
        <p:txBody>
          <a:bodyPr wrap="square">
            <a:spAutoFit/>
          </a:bodyPr>
          <a:lstStyle/>
          <a:p>
            <a:pPr algn="ctr"/>
            <a:r>
              <a:rPr lang="en-IN" sz="4000" dirty="0">
                <a:solidFill>
                  <a:srgbClr val="FFFF00"/>
                </a:solidFill>
                <a:latin typeface="Algerian" panose="04020705040A02060702" pitchFamily="82" charset="0"/>
                <a:sym typeface="+mn-ea"/>
              </a:rPr>
              <a:t>Unified Modeling Language Diagrams</a:t>
            </a:r>
          </a:p>
          <a:p>
            <a:pPr algn="ctr"/>
            <a:endParaRPr lang="en-IN" sz="4000" dirty="0">
              <a:solidFill>
                <a:srgbClr val="FFFF00"/>
              </a:solidFill>
              <a:latin typeface="Algerian" panose="04020705040A02060702" pitchFamily="82" charset="0"/>
              <a:sym typeface="+mn-ea"/>
            </a:endParaRPr>
          </a:p>
          <a:p>
            <a:pPr algn="just"/>
            <a:r>
              <a:rPr lang="en-US" sz="2800" b="1" dirty="0">
                <a:latin typeface="Aptos Display" panose="020B0004020202020204" pitchFamily="34" charset="0"/>
                <a:ea typeface="Gelasio" pitchFamily="34" charset="-122"/>
                <a:cs typeface="Times New Roman" panose="02020603050405020304" charset="0"/>
                <a:sym typeface="+mn-ea"/>
              </a:rPr>
              <a:t>UML is a standardized modeling language. It is used in software engineering. It provides a way to visualize system designs. UML helps to communicate complex architectures. Various diagrams capture different aspects.</a:t>
            </a:r>
          </a:p>
          <a:p>
            <a:pPr algn="just"/>
            <a:endParaRPr lang="en-US" sz="1800" dirty="0">
              <a:solidFill>
                <a:srgbClr val="746558"/>
              </a:solidFill>
              <a:latin typeface="Times New Roman" panose="02020603050405020304" charset="0"/>
              <a:ea typeface="Gelasio" pitchFamily="34" charset="-122"/>
              <a:cs typeface="Times New Roman" panose="02020603050405020304" charset="0"/>
              <a:sym typeface="+mn-ea"/>
            </a:endParaRPr>
          </a:p>
          <a:p>
            <a:endParaRPr lang="en-IN" dirty="0"/>
          </a:p>
        </p:txBody>
      </p:sp>
    </p:spTree>
    <p:extLst>
      <p:ext uri="{BB962C8B-B14F-4D97-AF65-F5344CB8AC3E}">
        <p14:creationId xmlns:p14="http://schemas.microsoft.com/office/powerpoint/2010/main" val="25625181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a:extLst>
              <a:ext uri="{FF2B5EF4-FFF2-40B4-BE49-F238E27FC236}">
                <a16:creationId xmlns:a16="http://schemas.microsoft.com/office/drawing/2014/main" id="{CFB8F4FF-B45F-DA9D-02AE-191FC0803B02}"/>
              </a:ext>
            </a:extLst>
          </p:cNvPr>
          <p:cNvSpPr>
            <a:spLocks noGrp="1"/>
          </p:cNvSpPr>
          <p:nvPr>
            <p:ph type="subTitle" idx="1"/>
          </p:nvPr>
        </p:nvSpPr>
        <p:spPr>
          <a:xfrm>
            <a:off x="365760" y="283313"/>
            <a:ext cx="11602720" cy="1004355"/>
          </a:xfrm>
        </p:spPr>
        <p:txBody>
          <a:bodyPr>
            <a:normAutofit/>
          </a:bodyPr>
          <a:lstStyle/>
          <a:p>
            <a:r>
              <a:rPr lang="en-IN" sz="3600" spc="-5" dirty="0">
                <a:solidFill>
                  <a:srgbClr val="FFFF00"/>
                </a:solidFill>
              </a:rPr>
              <a:t>System</a:t>
            </a:r>
            <a:r>
              <a:rPr lang="en-IN" sz="3600" spc="-204" dirty="0">
                <a:solidFill>
                  <a:srgbClr val="FFFF00"/>
                </a:solidFill>
              </a:rPr>
              <a:t> </a:t>
            </a:r>
            <a:r>
              <a:rPr lang="en-IN" sz="3600" spc="-5" dirty="0">
                <a:solidFill>
                  <a:srgbClr val="FFFF00"/>
                </a:solidFill>
              </a:rPr>
              <a:t>Architecture</a:t>
            </a:r>
            <a:r>
              <a:rPr lang="en-IN" sz="5400" dirty="0">
                <a:solidFill>
                  <a:srgbClr val="FFFF00"/>
                </a:solidFill>
              </a:rPr>
              <a:t> </a:t>
            </a:r>
            <a:r>
              <a:rPr lang="en-IN" sz="3600" dirty="0">
                <a:solidFill>
                  <a:srgbClr val="FFFF00"/>
                </a:solidFill>
              </a:rPr>
              <a:t>For</a:t>
            </a:r>
            <a:r>
              <a:rPr lang="en-IN" sz="3600" spc="-5" dirty="0">
                <a:solidFill>
                  <a:srgbClr val="FFFF00"/>
                </a:solidFill>
              </a:rPr>
              <a:t> </a:t>
            </a:r>
            <a:r>
              <a:rPr lang="en-US" sz="3600" dirty="0">
                <a:solidFill>
                  <a:srgbClr val="FFFF00"/>
                </a:solidFill>
                <a:cs typeface="Times New Roman" panose="02020603050405020304" pitchFamily="18" charset="0"/>
              </a:rPr>
              <a:t>Malicious URL Detection</a:t>
            </a:r>
            <a:endParaRPr lang="en-IN" sz="2400" dirty="0">
              <a:solidFill>
                <a:srgbClr val="FFFF00"/>
              </a:solidFill>
            </a:endParaRPr>
          </a:p>
        </p:txBody>
      </p:sp>
      <p:pic>
        <p:nvPicPr>
          <p:cNvPr id="2" name="Picture 2">
            <a:extLst>
              <a:ext uri="{FF2B5EF4-FFF2-40B4-BE49-F238E27FC236}">
                <a16:creationId xmlns:a16="http://schemas.microsoft.com/office/drawing/2014/main" id="{6AADDE2E-9AE1-313D-1560-AB1FCE7240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2845947" y="1589695"/>
            <a:ext cx="7955280" cy="4550914"/>
          </a:xfrm>
          <a:prstGeom prst="rect">
            <a:avLst/>
          </a:prstGeom>
          <a:noFill/>
          <a:ln w="9525">
            <a:noFill/>
            <a:miter lim="800000"/>
            <a:headEnd/>
            <a:tailEnd/>
          </a:ln>
          <a:effectLst/>
        </p:spPr>
      </p:pic>
    </p:spTree>
    <p:extLst>
      <p:ext uri="{BB962C8B-B14F-4D97-AF65-F5344CB8AC3E}">
        <p14:creationId xmlns:p14="http://schemas.microsoft.com/office/powerpoint/2010/main" val="21101927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B4D1A4C-3668-D3C0-D88B-66089DCEAC0F}"/>
              </a:ext>
            </a:extLst>
          </p:cNvPr>
          <p:cNvSpPr>
            <a:spLocks noGrp="1"/>
          </p:cNvSpPr>
          <p:nvPr>
            <p:ph type="ctrTitle"/>
          </p:nvPr>
        </p:nvSpPr>
        <p:spPr>
          <a:xfrm>
            <a:off x="1805659" y="92726"/>
            <a:ext cx="8959352" cy="767370"/>
          </a:xfrm>
        </p:spPr>
        <p:txBody>
          <a:bodyPr>
            <a:normAutofit/>
          </a:bodyPr>
          <a:lstStyle/>
          <a:p>
            <a:r>
              <a:rPr lang="en-IN" sz="4000" b="0" dirty="0">
                <a:solidFill>
                  <a:srgbClr val="FFFF00"/>
                </a:solidFill>
                <a:latin typeface="Algerian" panose="04020705040A02060702" pitchFamily="82" charset="0"/>
              </a:rPr>
              <a:t>Use case Diagram</a:t>
            </a:r>
          </a:p>
        </p:txBody>
      </p:sp>
      <p:pic>
        <p:nvPicPr>
          <p:cNvPr id="2" name="Picture 3">
            <a:extLst>
              <a:ext uri="{FF2B5EF4-FFF2-40B4-BE49-F238E27FC236}">
                <a16:creationId xmlns:a16="http://schemas.microsoft.com/office/drawing/2014/main" id="{91C91CE3-8F38-4938-0045-8595EF2466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3119120" y="1726893"/>
            <a:ext cx="7396480" cy="4104597"/>
          </a:xfrm>
          <a:prstGeom prst="rect">
            <a:avLst/>
          </a:prstGeom>
          <a:noFill/>
          <a:ln w="9525">
            <a:noFill/>
            <a:miter lim="800000"/>
            <a:headEnd/>
            <a:tailEnd/>
          </a:ln>
          <a:effectLst/>
        </p:spPr>
      </p:pic>
    </p:spTree>
    <p:extLst>
      <p:ext uri="{BB962C8B-B14F-4D97-AF65-F5344CB8AC3E}">
        <p14:creationId xmlns:p14="http://schemas.microsoft.com/office/powerpoint/2010/main" val="17296720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3">
            <a:extLst>
              <a:ext uri="{FF2B5EF4-FFF2-40B4-BE49-F238E27FC236}">
                <a16:creationId xmlns:a16="http://schemas.microsoft.com/office/drawing/2014/main" id="{50E87E46-5610-F4C2-3AC2-09268B717641}"/>
              </a:ext>
            </a:extLst>
          </p:cNvPr>
          <p:cNvSpPr>
            <a:spLocks noGrp="1"/>
          </p:cNvSpPr>
          <p:nvPr>
            <p:ph type="subTitle" idx="1"/>
          </p:nvPr>
        </p:nvSpPr>
        <p:spPr>
          <a:xfrm>
            <a:off x="1524000" y="236648"/>
            <a:ext cx="9144000" cy="698072"/>
          </a:xfrm>
        </p:spPr>
        <p:txBody>
          <a:bodyPr>
            <a:normAutofit lnSpcReduction="10000"/>
          </a:bodyPr>
          <a:lstStyle/>
          <a:p>
            <a:r>
              <a:rPr lang="en-IN" sz="4000" dirty="0">
                <a:solidFill>
                  <a:srgbClr val="FFFF00"/>
                </a:solidFill>
                <a:latin typeface="Algerian" panose="04020705040A02060702" pitchFamily="82" charset="0"/>
              </a:rPr>
              <a:t>Class diagram</a:t>
            </a:r>
          </a:p>
        </p:txBody>
      </p:sp>
      <p:pic>
        <p:nvPicPr>
          <p:cNvPr id="3" name="Picture 2">
            <a:extLst>
              <a:ext uri="{FF2B5EF4-FFF2-40B4-BE49-F238E27FC236}">
                <a16:creationId xmlns:a16="http://schemas.microsoft.com/office/drawing/2014/main" id="{154516CB-03A6-6CC0-FE26-2DC4E18944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3751" y="1445341"/>
            <a:ext cx="8098638" cy="4310704"/>
          </a:xfrm>
          <a:prstGeom prst="rect">
            <a:avLst/>
          </a:prstGeom>
        </p:spPr>
      </p:pic>
    </p:spTree>
    <p:extLst>
      <p:ext uri="{BB962C8B-B14F-4D97-AF65-F5344CB8AC3E}">
        <p14:creationId xmlns:p14="http://schemas.microsoft.com/office/powerpoint/2010/main" val="34285575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F460C-31F5-798E-1FC4-31E8C7F70582}"/>
              </a:ext>
            </a:extLst>
          </p:cNvPr>
          <p:cNvSpPr>
            <a:spLocks noGrp="1"/>
          </p:cNvSpPr>
          <p:nvPr>
            <p:ph type="ctrTitle"/>
          </p:nvPr>
        </p:nvSpPr>
        <p:spPr>
          <a:xfrm>
            <a:off x="2641600" y="121919"/>
            <a:ext cx="7640320" cy="639417"/>
          </a:xfrm>
        </p:spPr>
        <p:txBody>
          <a:bodyPr>
            <a:normAutofit fontScale="90000"/>
          </a:bodyPr>
          <a:lstStyle/>
          <a:p>
            <a:r>
              <a:rPr lang="en-IN" sz="4000" b="0" dirty="0">
                <a:solidFill>
                  <a:srgbClr val="FFFF00"/>
                </a:solidFill>
                <a:latin typeface="Algerian" panose="04020705040A02060702" pitchFamily="82" charset="0"/>
              </a:rPr>
              <a:t>Sequence Diagram</a:t>
            </a:r>
          </a:p>
        </p:txBody>
      </p:sp>
      <p:pic>
        <p:nvPicPr>
          <p:cNvPr id="6" name="Picture 5">
            <a:extLst>
              <a:ext uri="{FF2B5EF4-FFF2-40B4-BE49-F238E27FC236}">
                <a16:creationId xmlns:a16="http://schemas.microsoft.com/office/drawing/2014/main" id="{13DAA938-AC3A-1461-FFF4-DD98E4BA86A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308545" y="882848"/>
            <a:ext cx="6306430" cy="5229955"/>
          </a:xfrm>
          <a:prstGeom prst="rect">
            <a:avLst/>
          </a:prstGeom>
        </p:spPr>
      </p:pic>
    </p:spTree>
    <p:extLst>
      <p:ext uri="{BB962C8B-B14F-4D97-AF65-F5344CB8AC3E}">
        <p14:creationId xmlns:p14="http://schemas.microsoft.com/office/powerpoint/2010/main" val="23008061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3">
            <a:extLst>
              <a:ext uri="{FF2B5EF4-FFF2-40B4-BE49-F238E27FC236}">
                <a16:creationId xmlns:a16="http://schemas.microsoft.com/office/drawing/2014/main" id="{26744347-6C9D-213B-AB72-F47247D047DC}"/>
              </a:ext>
            </a:extLst>
          </p:cNvPr>
          <p:cNvSpPr>
            <a:spLocks noGrp="1"/>
          </p:cNvSpPr>
          <p:nvPr>
            <p:ph type="subTitle" idx="1"/>
          </p:nvPr>
        </p:nvSpPr>
        <p:spPr>
          <a:xfrm>
            <a:off x="365760" y="314960"/>
            <a:ext cx="4988560" cy="604699"/>
          </a:xfrm>
        </p:spPr>
        <p:txBody>
          <a:bodyPr>
            <a:normAutofit lnSpcReduction="10000"/>
          </a:bodyPr>
          <a:lstStyle/>
          <a:p>
            <a:r>
              <a:rPr lang="en-IN" sz="3600" dirty="0">
                <a:solidFill>
                  <a:srgbClr val="FFFF00"/>
                </a:solidFill>
                <a:latin typeface="Algerian" panose="04020705040A02060702" pitchFamily="82" charset="0"/>
              </a:rPr>
              <a:t>ACTIVITY DIAGRAM</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5664392" y="762343"/>
            <a:ext cx="5355665" cy="5660300"/>
          </a:xfrm>
          <a:prstGeom prst="rect">
            <a:avLst/>
          </a:prstGeom>
          <a:noFill/>
          <a:ln w="9525">
            <a:noFill/>
            <a:miter lim="800000"/>
            <a:headEnd/>
            <a:tailEnd/>
          </a:ln>
          <a:effectLst/>
        </p:spPr>
      </p:pic>
    </p:spTree>
    <p:extLst>
      <p:ext uri="{BB962C8B-B14F-4D97-AF65-F5344CB8AC3E}">
        <p14:creationId xmlns:p14="http://schemas.microsoft.com/office/powerpoint/2010/main" val="42098580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Box 44">
            <a:extLst>
              <a:ext uri="{FF2B5EF4-FFF2-40B4-BE49-F238E27FC236}">
                <a16:creationId xmlns:a16="http://schemas.microsoft.com/office/drawing/2014/main" id="{F13A3042-82A4-6E50-2A2D-D1695DFD1BF7}"/>
              </a:ext>
            </a:extLst>
          </p:cNvPr>
          <p:cNvSpPr txBox="1"/>
          <p:nvPr/>
        </p:nvSpPr>
        <p:spPr>
          <a:xfrm>
            <a:off x="2421038" y="173618"/>
            <a:ext cx="6794340" cy="769441"/>
          </a:xfrm>
          <a:prstGeom prst="rect">
            <a:avLst/>
          </a:prstGeom>
          <a:noFill/>
        </p:spPr>
        <p:txBody>
          <a:bodyPr wrap="square" rtlCol="0">
            <a:spAutoFit/>
          </a:bodyPr>
          <a:lstStyle/>
          <a:p>
            <a:pPr algn="ctr"/>
            <a:r>
              <a:rPr lang="en-IN" sz="4400" dirty="0">
                <a:solidFill>
                  <a:srgbClr val="FFFF00"/>
                </a:solidFill>
                <a:latin typeface="Algerian" panose="04020705040A02060702" pitchFamily="82" charset="0"/>
              </a:rPr>
              <a:t>Deployment Diagram</a:t>
            </a:r>
          </a:p>
        </p:txBody>
      </p:sp>
      <p:pic>
        <p:nvPicPr>
          <p:cNvPr id="3" name="Picture 2">
            <a:extLst>
              <a:ext uri="{FF2B5EF4-FFF2-40B4-BE49-F238E27FC236}">
                <a16:creationId xmlns:a16="http://schemas.microsoft.com/office/drawing/2014/main" id="{F6DD6B8F-1249-A043-0CAE-41877816C7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08629" y="1738208"/>
            <a:ext cx="8145012" cy="3696216"/>
          </a:xfrm>
          <a:prstGeom prst="rect">
            <a:avLst/>
          </a:prstGeom>
        </p:spPr>
      </p:pic>
    </p:spTree>
    <p:extLst>
      <p:ext uri="{BB962C8B-B14F-4D97-AF65-F5344CB8AC3E}">
        <p14:creationId xmlns:p14="http://schemas.microsoft.com/office/powerpoint/2010/main" val="35991159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2">
            <a:extLst>
              <a:ext uri="{FF2B5EF4-FFF2-40B4-BE49-F238E27FC236}">
                <a16:creationId xmlns:a16="http://schemas.microsoft.com/office/drawing/2014/main" id="{7A67D445-81D0-CAC0-D058-94A2D64CD591}"/>
              </a:ext>
            </a:extLst>
          </p:cNvPr>
          <p:cNvSpPr txBox="1">
            <a:spLocks/>
          </p:cNvSpPr>
          <p:nvPr/>
        </p:nvSpPr>
        <p:spPr>
          <a:xfrm>
            <a:off x="432619" y="391981"/>
            <a:ext cx="11326762" cy="500137"/>
          </a:xfrm>
          <a:prstGeom prst="rect">
            <a:avLst/>
          </a:prstGeom>
          <a:solidFill>
            <a:srgbClr val="FFFFFF">
              <a:alpha val="19999"/>
            </a:srgbClr>
          </a:solidFill>
        </p:spPr>
        <p:txBody>
          <a:bodyPr vert="horz" wrap="square" lIns="0" tIns="0" rIns="0" bIns="0" rtlCol="0">
            <a:spAutoFit/>
          </a:bodyPr>
          <a:lst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90170">
              <a:lnSpc>
                <a:spcPts val="3895"/>
              </a:lnSpc>
            </a:pPr>
            <a:r>
              <a:rPr lang="en-IN" sz="3600" spc="-5" dirty="0">
                <a:solidFill>
                  <a:srgbClr val="FFFF00"/>
                </a:solidFill>
              </a:rPr>
              <a:t>Modules</a:t>
            </a:r>
          </a:p>
        </p:txBody>
      </p:sp>
      <p:sp>
        <p:nvSpPr>
          <p:cNvPr id="6" name="TextBox 5">
            <a:extLst>
              <a:ext uri="{FF2B5EF4-FFF2-40B4-BE49-F238E27FC236}">
                <a16:creationId xmlns:a16="http://schemas.microsoft.com/office/drawing/2014/main" id="{14791999-BDE4-849C-DF62-4792B6BB2F34}"/>
              </a:ext>
            </a:extLst>
          </p:cNvPr>
          <p:cNvSpPr txBox="1"/>
          <p:nvPr/>
        </p:nvSpPr>
        <p:spPr>
          <a:xfrm>
            <a:off x="3295860" y="2039002"/>
            <a:ext cx="6692202" cy="2062103"/>
          </a:xfrm>
          <a:prstGeom prst="rect">
            <a:avLst/>
          </a:prstGeom>
          <a:noFill/>
        </p:spPr>
        <p:txBody>
          <a:bodyPr wrap="square">
            <a:spAutoFit/>
          </a:bodyPr>
          <a:lstStyle/>
          <a:p>
            <a:pPr marL="342900" indent="-342900">
              <a:buFont typeface="+mj-lt"/>
              <a:buAutoNum type="arabicPeriod"/>
            </a:pPr>
            <a:r>
              <a:rPr lang="en-US" sz="3200" b="1" dirty="0"/>
              <a:t>Data Collection </a:t>
            </a:r>
          </a:p>
          <a:p>
            <a:pPr marL="342900" indent="-342900">
              <a:buFont typeface="+mj-lt"/>
              <a:buAutoNum type="arabicPeriod"/>
            </a:pPr>
            <a:r>
              <a:rPr lang="en-US" sz="3200" b="1" dirty="0">
                <a:latin typeface="Times New Roman" pitchFamily="18" charset="0"/>
                <a:cs typeface="Times New Roman" pitchFamily="18" charset="0"/>
              </a:rPr>
              <a:t>Data  Preprocessing </a:t>
            </a:r>
          </a:p>
          <a:p>
            <a:pPr marL="342900" indent="-342900">
              <a:buFont typeface="+mj-lt"/>
              <a:buAutoNum type="arabicPeriod"/>
            </a:pPr>
            <a:r>
              <a:rPr lang="en-US" sz="3200" b="1" dirty="0">
                <a:latin typeface="Times New Roman" pitchFamily="18" charset="0"/>
                <a:cs typeface="Times New Roman" pitchFamily="18" charset="0"/>
              </a:rPr>
              <a:t>Train  and  Test  Modeling</a:t>
            </a:r>
            <a:endParaRPr lang="en-US" sz="3200" dirty="0"/>
          </a:p>
          <a:p>
            <a:pPr marL="342900" indent="-342900">
              <a:buFont typeface="+mj-lt"/>
              <a:buAutoNum type="arabicPeriod"/>
            </a:pPr>
            <a:r>
              <a:rPr lang="en-IN" sz="3200" b="1" dirty="0"/>
              <a:t>Detect Malicious URL’s</a:t>
            </a:r>
            <a:endParaRPr lang="en-US" sz="3200" dirty="0"/>
          </a:p>
        </p:txBody>
      </p:sp>
    </p:spTree>
    <p:extLst>
      <p:ext uri="{BB962C8B-B14F-4D97-AF65-F5344CB8AC3E}">
        <p14:creationId xmlns:p14="http://schemas.microsoft.com/office/powerpoint/2010/main" val="3043788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CDAFF1B9-37F6-BECE-206C-C222E912F635}"/>
              </a:ext>
            </a:extLst>
          </p:cNvPr>
          <p:cNvSpPr txBox="1">
            <a:spLocks/>
          </p:cNvSpPr>
          <p:nvPr/>
        </p:nvSpPr>
        <p:spPr>
          <a:xfrm>
            <a:off x="477519" y="544624"/>
            <a:ext cx="11454581" cy="500137"/>
          </a:xfrm>
          <a:prstGeom prst="rect">
            <a:avLst/>
          </a:prstGeom>
          <a:solidFill>
            <a:srgbClr val="FFFFFF">
              <a:alpha val="19999"/>
            </a:srgbClr>
          </a:solidFill>
        </p:spPr>
        <p:txBody>
          <a:bodyPr vert="horz" wrap="square" lIns="0" tIns="0" rIns="0" bIns="0" rtlCol="0">
            <a:spAutoFit/>
          </a:bodyPr>
          <a:lst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91440">
              <a:lnSpc>
                <a:spcPts val="3945"/>
              </a:lnSpc>
            </a:pPr>
            <a:r>
              <a:rPr lang="en-IN" sz="3600" spc="-5" dirty="0">
                <a:solidFill>
                  <a:srgbClr val="FFFF00"/>
                </a:solidFill>
              </a:rPr>
              <a:t>Data</a:t>
            </a:r>
            <a:r>
              <a:rPr lang="en-IN" sz="3600" spc="-30" dirty="0">
                <a:solidFill>
                  <a:srgbClr val="FFFF00"/>
                </a:solidFill>
              </a:rPr>
              <a:t> </a:t>
            </a:r>
            <a:r>
              <a:rPr lang="en-IN" sz="3600" spc="-5" dirty="0">
                <a:solidFill>
                  <a:srgbClr val="FFFF00"/>
                </a:solidFill>
              </a:rPr>
              <a:t>Collection</a:t>
            </a:r>
          </a:p>
        </p:txBody>
      </p:sp>
      <p:sp>
        <p:nvSpPr>
          <p:cNvPr id="7" name="TextBox 6">
            <a:extLst>
              <a:ext uri="{FF2B5EF4-FFF2-40B4-BE49-F238E27FC236}">
                <a16:creationId xmlns:a16="http://schemas.microsoft.com/office/drawing/2014/main" id="{0A961E79-1DB2-514A-D6BA-EC634D9F19E2}"/>
              </a:ext>
            </a:extLst>
          </p:cNvPr>
          <p:cNvSpPr txBox="1"/>
          <p:nvPr/>
        </p:nvSpPr>
        <p:spPr>
          <a:xfrm>
            <a:off x="249634" y="1512062"/>
            <a:ext cx="11910350" cy="4801314"/>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800" dirty="0"/>
              <a:t>The dataset for </a:t>
            </a:r>
            <a:r>
              <a:rPr lang="en-US" sz="2800" b="1" dirty="0">
                <a:latin typeface="Times New Roman" panose="02020603050405020304" pitchFamily="18" charset="0"/>
                <a:cs typeface="Times New Roman" panose="02020603050405020304" pitchFamily="18" charset="0"/>
              </a:rPr>
              <a:t>Malicious URL </a:t>
            </a:r>
            <a:r>
              <a:rPr lang="en-US" sz="2800" dirty="0"/>
              <a:t>prediction is collected from the  Kaggle website.</a:t>
            </a:r>
          </a:p>
          <a:p>
            <a:pPr marL="342900" lvl="0" indent="-342900" algn="just">
              <a:lnSpc>
                <a:spcPct val="150000"/>
              </a:lnSpc>
              <a:buClrTx/>
              <a:buFont typeface="Arial" panose="020B0604020202020204" pitchFamily="34" charset="0"/>
              <a:buChar char="•"/>
            </a:pPr>
            <a:r>
              <a:rPr lang="en-US" sz="2400" dirty="0">
                <a:latin typeface="Times New Roman" pitchFamily="18" charset="0"/>
                <a:cs typeface="Times New Roman" pitchFamily="18" charset="0"/>
              </a:rPr>
              <a:t> </a:t>
            </a:r>
            <a:r>
              <a:rPr lang="en-US" sz="2800" dirty="0">
                <a:latin typeface="Times New Roman" pitchFamily="18" charset="0"/>
                <a:cs typeface="Times New Roman" pitchFamily="18" charset="0"/>
              </a:rPr>
              <a:t>we collected sufficient data samples and legitimate software samples. </a:t>
            </a:r>
          </a:p>
          <a:p>
            <a:pPr marL="342900" indent="-342900" algn="just">
              <a:lnSpc>
                <a:spcPct val="150000"/>
              </a:lnSpc>
              <a:buFont typeface="Arial" panose="020B0604020202020204" pitchFamily="34" charset="0"/>
              <a:buChar char="•"/>
            </a:pPr>
            <a:r>
              <a:rPr lang="en-US" sz="2800" spc="-95" dirty="0">
                <a:solidFill>
                  <a:srgbClr val="FFFFFF"/>
                </a:solidFill>
                <a:latin typeface="Times New Roman" panose="02020603050405020304"/>
                <a:cs typeface="Times New Roman" panose="02020603050405020304"/>
              </a:rPr>
              <a:t>We </a:t>
            </a:r>
            <a:r>
              <a:rPr lang="en-US" sz="2800" spc="10" dirty="0">
                <a:solidFill>
                  <a:srgbClr val="FFFFFF"/>
                </a:solidFill>
                <a:latin typeface="Times New Roman" panose="02020603050405020304"/>
                <a:cs typeface="Times New Roman" panose="02020603050405020304"/>
              </a:rPr>
              <a:t>split </a:t>
            </a:r>
            <a:r>
              <a:rPr lang="en-US" sz="2800" spc="5" dirty="0">
                <a:solidFill>
                  <a:srgbClr val="FFFFFF"/>
                </a:solidFill>
                <a:latin typeface="Times New Roman" panose="02020603050405020304"/>
                <a:cs typeface="Times New Roman" panose="02020603050405020304"/>
              </a:rPr>
              <a:t>the data into </a:t>
            </a:r>
            <a:r>
              <a:rPr lang="en-US" sz="2800" dirty="0">
                <a:solidFill>
                  <a:srgbClr val="FFFFFF"/>
                </a:solidFill>
                <a:latin typeface="Times New Roman" panose="02020603050405020304"/>
                <a:cs typeface="Times New Roman" panose="02020603050405020304"/>
              </a:rPr>
              <a:t>Training </a:t>
            </a:r>
            <a:r>
              <a:rPr lang="en-US" sz="2800" spc="5" dirty="0">
                <a:solidFill>
                  <a:srgbClr val="FFFFFF"/>
                </a:solidFill>
                <a:latin typeface="Times New Roman" panose="02020603050405020304"/>
                <a:cs typeface="Times New Roman" panose="02020603050405020304"/>
              </a:rPr>
              <a:t>and </a:t>
            </a:r>
            <a:r>
              <a:rPr lang="en-US" sz="2800" spc="-15" dirty="0">
                <a:solidFill>
                  <a:srgbClr val="FFFFFF"/>
                </a:solidFill>
                <a:latin typeface="Times New Roman" panose="02020603050405020304"/>
                <a:cs typeface="Times New Roman" panose="02020603050405020304"/>
              </a:rPr>
              <a:t>Testing</a:t>
            </a:r>
            <a:r>
              <a:rPr lang="en-US" sz="2800" dirty="0">
                <a:solidFill>
                  <a:srgbClr val="FFFFFF"/>
                </a:solidFill>
                <a:latin typeface="Times New Roman" panose="02020603050405020304"/>
                <a:cs typeface="Times New Roman" panose="02020603050405020304"/>
              </a:rPr>
              <a:t>, </a:t>
            </a:r>
            <a:r>
              <a:rPr lang="en-US" sz="2800" spc="10" dirty="0">
                <a:solidFill>
                  <a:srgbClr val="FFFFFF"/>
                </a:solidFill>
                <a:latin typeface="Times New Roman" panose="02020603050405020304"/>
                <a:cs typeface="Times New Roman" panose="02020603050405020304"/>
              </a:rPr>
              <a:t>where </a:t>
            </a:r>
            <a:r>
              <a:rPr lang="en-US" sz="2800" spc="5" dirty="0">
                <a:solidFill>
                  <a:srgbClr val="FFFFFF"/>
                </a:solidFill>
                <a:latin typeface="Times New Roman" panose="02020603050405020304"/>
                <a:cs typeface="Times New Roman" panose="02020603050405020304"/>
              </a:rPr>
              <a:t>the </a:t>
            </a:r>
            <a:r>
              <a:rPr lang="en-US" sz="2800" dirty="0">
                <a:solidFill>
                  <a:srgbClr val="FFFFFF"/>
                </a:solidFill>
                <a:latin typeface="Times New Roman" panose="02020603050405020304"/>
                <a:cs typeface="Times New Roman" panose="02020603050405020304"/>
              </a:rPr>
              <a:t>Training </a:t>
            </a:r>
            <a:r>
              <a:rPr lang="en-US" sz="2800" spc="45" dirty="0">
                <a:solidFill>
                  <a:srgbClr val="FFFFFF"/>
                </a:solidFill>
                <a:latin typeface="Times New Roman" panose="02020603050405020304"/>
                <a:cs typeface="Times New Roman" panose="02020603050405020304"/>
              </a:rPr>
              <a:t>dataset </a:t>
            </a:r>
            <a:r>
              <a:rPr lang="en-US" sz="2800" spc="25" dirty="0">
                <a:solidFill>
                  <a:srgbClr val="FFFFFF"/>
                </a:solidFill>
                <a:latin typeface="Times New Roman" panose="02020603050405020304"/>
                <a:cs typeface="Times New Roman" panose="02020603050405020304"/>
              </a:rPr>
              <a:t>is </a:t>
            </a:r>
            <a:r>
              <a:rPr lang="en-US" sz="2800" spc="40" dirty="0">
                <a:solidFill>
                  <a:srgbClr val="FFFFFF"/>
                </a:solidFill>
                <a:latin typeface="Times New Roman" panose="02020603050405020304"/>
                <a:cs typeface="Times New Roman" panose="02020603050405020304"/>
              </a:rPr>
              <a:t>for </a:t>
            </a:r>
            <a:r>
              <a:rPr lang="en-US" sz="2800" spc="50" dirty="0">
                <a:solidFill>
                  <a:srgbClr val="FFFFFF"/>
                </a:solidFill>
                <a:latin typeface="Times New Roman" panose="02020603050405020304"/>
                <a:cs typeface="Times New Roman" panose="02020603050405020304"/>
              </a:rPr>
              <a:t>training </a:t>
            </a:r>
            <a:r>
              <a:rPr lang="en-US" sz="2800" spc="35" dirty="0">
                <a:solidFill>
                  <a:srgbClr val="FFFFFF"/>
                </a:solidFill>
                <a:latin typeface="Times New Roman" panose="02020603050405020304"/>
                <a:cs typeface="Times New Roman" panose="02020603050405020304"/>
              </a:rPr>
              <a:t>the </a:t>
            </a:r>
            <a:r>
              <a:rPr lang="en-US" sz="2800" spc="45" dirty="0">
                <a:solidFill>
                  <a:srgbClr val="FFFFFF"/>
                </a:solidFill>
                <a:latin typeface="Times New Roman" panose="02020603050405020304"/>
                <a:cs typeface="Times New Roman" panose="02020603050405020304"/>
              </a:rPr>
              <a:t>model </a:t>
            </a:r>
            <a:r>
              <a:rPr lang="en-US" sz="2800" spc="20" dirty="0">
                <a:solidFill>
                  <a:srgbClr val="FFFFFF"/>
                </a:solidFill>
                <a:latin typeface="Times New Roman" panose="02020603050405020304"/>
                <a:cs typeface="Times New Roman" panose="02020603050405020304"/>
              </a:rPr>
              <a:t>Testing </a:t>
            </a:r>
            <a:r>
              <a:rPr lang="en-US" sz="2800" spc="25" dirty="0">
                <a:solidFill>
                  <a:srgbClr val="FFFFFF"/>
                </a:solidFill>
                <a:latin typeface="Times New Roman" panose="02020603050405020304"/>
                <a:cs typeface="Times New Roman" panose="02020603050405020304"/>
              </a:rPr>
              <a:t>is </a:t>
            </a:r>
            <a:r>
              <a:rPr lang="en-US" sz="2800" spc="40" dirty="0">
                <a:solidFill>
                  <a:srgbClr val="FFFFFF"/>
                </a:solidFill>
                <a:latin typeface="Times New Roman" panose="02020603050405020304"/>
                <a:cs typeface="Times New Roman" panose="02020603050405020304"/>
              </a:rPr>
              <a:t>for </a:t>
            </a:r>
            <a:r>
              <a:rPr lang="en-US" sz="2800" spc="55" dirty="0">
                <a:solidFill>
                  <a:srgbClr val="FFFFFF"/>
                </a:solidFill>
                <a:latin typeface="Times New Roman" panose="02020603050405020304"/>
                <a:cs typeface="Times New Roman" panose="02020603050405020304"/>
              </a:rPr>
              <a:t>evaluating </a:t>
            </a:r>
            <a:r>
              <a:rPr lang="en-US" sz="2800" spc="40" dirty="0">
                <a:solidFill>
                  <a:srgbClr val="FFFFFF"/>
                </a:solidFill>
                <a:latin typeface="Times New Roman" panose="02020603050405020304"/>
                <a:cs typeface="Times New Roman" panose="02020603050405020304"/>
              </a:rPr>
              <a:t>the </a:t>
            </a:r>
            <a:r>
              <a:rPr lang="en-US" sz="2800" spc="-5" dirty="0">
                <a:solidFill>
                  <a:srgbClr val="FFFFFF"/>
                </a:solidFill>
                <a:latin typeface="Times New Roman" panose="02020603050405020304"/>
                <a:cs typeface="Times New Roman" panose="02020603050405020304"/>
              </a:rPr>
              <a:t>model.</a:t>
            </a:r>
            <a:endParaRPr lang="en-US" sz="2800" dirty="0">
              <a:latin typeface="Times New Roman" panose="02020603050405020304"/>
              <a:cs typeface="Times New Roman" panose="02020603050405020304"/>
            </a:endParaRPr>
          </a:p>
          <a:p>
            <a:pPr marL="342900" lvl="0" indent="-342900" algn="just">
              <a:buClrTx/>
              <a:buFont typeface="Arial" panose="020B0604020202020204" pitchFamily="34" charset="0"/>
              <a:buChar char="•"/>
            </a:pPr>
            <a:endParaRPr lang="en-US" sz="3200" dirty="0">
              <a:latin typeface="Times New Roman" pitchFamily="18" charset="0"/>
              <a:cs typeface="Times New Roman" pitchFamily="18" charset="0"/>
            </a:endParaRPr>
          </a:p>
          <a:p>
            <a:pPr lvl="0" algn="just">
              <a:buClrTx/>
              <a:buNone/>
            </a:pPr>
            <a:endParaRPr lang="en-US" sz="4000" dirty="0">
              <a:latin typeface="Times New Roman" pitchFamily="18" charset="0"/>
              <a:cs typeface="Times New Roman" pitchFamily="18" charset="0"/>
            </a:endParaRPr>
          </a:p>
          <a:p>
            <a:endParaRPr lang="en-US" sz="2400" dirty="0"/>
          </a:p>
        </p:txBody>
      </p:sp>
    </p:spTree>
    <p:extLst>
      <p:ext uri="{BB962C8B-B14F-4D97-AF65-F5344CB8AC3E}">
        <p14:creationId xmlns:p14="http://schemas.microsoft.com/office/powerpoint/2010/main" val="19360256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1F9806F-24AE-3A82-B81F-A741D044A3BB}"/>
              </a:ext>
            </a:extLst>
          </p:cNvPr>
          <p:cNvSpPr txBox="1"/>
          <p:nvPr/>
        </p:nvSpPr>
        <p:spPr>
          <a:xfrm>
            <a:off x="442127" y="1457584"/>
            <a:ext cx="11686233" cy="4913846"/>
          </a:xfrm>
          <a:prstGeom prst="rect">
            <a:avLst/>
          </a:prstGeom>
          <a:noFill/>
        </p:spPr>
        <p:txBody>
          <a:bodyPr wrap="square">
            <a:spAutoFit/>
          </a:bodyPr>
          <a:lstStyle/>
          <a:p>
            <a:pPr marL="241300" indent="-228600">
              <a:lnSpc>
                <a:spcPct val="150000"/>
              </a:lnSpc>
              <a:spcBef>
                <a:spcPts val="95"/>
              </a:spcBef>
              <a:buFont typeface="Arial MT"/>
              <a:buChar char="•"/>
              <a:tabLst>
                <a:tab pos="241300" algn="l"/>
              </a:tabLst>
            </a:pPr>
            <a:r>
              <a:rPr lang="en-US" sz="2800" spc="-5" dirty="0">
                <a:solidFill>
                  <a:srgbClr val="FFFFFF"/>
                </a:solidFill>
                <a:latin typeface="Times New Roman" panose="02020603050405020304"/>
                <a:cs typeface="Times New Roman" panose="02020603050405020304"/>
              </a:rPr>
              <a:t>Once</a:t>
            </a:r>
            <a:r>
              <a:rPr lang="en-US" sz="2800" dirty="0">
                <a:solidFill>
                  <a:srgbClr val="FFFFFF"/>
                </a:solidFill>
                <a:latin typeface="Times New Roman" panose="02020603050405020304"/>
                <a:cs typeface="Times New Roman" panose="02020603050405020304"/>
              </a:rPr>
              <a:t> </a:t>
            </a:r>
            <a:r>
              <a:rPr lang="en-US" sz="2800" spc="-5" dirty="0">
                <a:solidFill>
                  <a:srgbClr val="FFFFFF"/>
                </a:solidFill>
                <a:latin typeface="Times New Roman" panose="02020603050405020304"/>
                <a:cs typeface="Times New Roman" panose="02020603050405020304"/>
              </a:rPr>
              <a:t>data</a:t>
            </a:r>
            <a:r>
              <a:rPr lang="en-US" sz="2800" dirty="0">
                <a:solidFill>
                  <a:srgbClr val="FFFFFF"/>
                </a:solidFill>
                <a:latin typeface="Times New Roman" panose="02020603050405020304"/>
                <a:cs typeface="Times New Roman" panose="02020603050405020304"/>
              </a:rPr>
              <a:t> </a:t>
            </a:r>
            <a:r>
              <a:rPr lang="en-US" sz="2800" spc="-5" dirty="0">
                <a:solidFill>
                  <a:srgbClr val="FFFFFF"/>
                </a:solidFill>
                <a:latin typeface="Times New Roman" panose="02020603050405020304"/>
                <a:cs typeface="Times New Roman" panose="02020603050405020304"/>
              </a:rPr>
              <a:t>is</a:t>
            </a:r>
            <a:r>
              <a:rPr lang="en-US" sz="2800" dirty="0">
                <a:solidFill>
                  <a:srgbClr val="FFFFFF"/>
                </a:solidFill>
                <a:latin typeface="Times New Roman" panose="02020603050405020304"/>
                <a:cs typeface="Times New Roman" panose="02020603050405020304"/>
              </a:rPr>
              <a:t> </a:t>
            </a:r>
            <a:r>
              <a:rPr lang="en-US" sz="2800" spc="-5" dirty="0">
                <a:solidFill>
                  <a:srgbClr val="FFFFFF"/>
                </a:solidFill>
                <a:latin typeface="Times New Roman" panose="02020603050405020304"/>
                <a:cs typeface="Times New Roman" panose="02020603050405020304"/>
              </a:rPr>
              <a:t>gathered,</a:t>
            </a:r>
            <a:r>
              <a:rPr lang="en-US" sz="2800" dirty="0">
                <a:solidFill>
                  <a:srgbClr val="FFFFFF"/>
                </a:solidFill>
                <a:latin typeface="Times New Roman" panose="02020603050405020304"/>
                <a:cs typeface="Times New Roman" panose="02020603050405020304"/>
              </a:rPr>
              <a:t> </a:t>
            </a:r>
            <a:r>
              <a:rPr lang="en-US" sz="2800" spc="-5" dirty="0">
                <a:solidFill>
                  <a:srgbClr val="FFFFFF"/>
                </a:solidFill>
                <a:latin typeface="Times New Roman" panose="02020603050405020304"/>
                <a:cs typeface="Times New Roman" panose="02020603050405020304"/>
              </a:rPr>
              <a:t>it</a:t>
            </a:r>
            <a:r>
              <a:rPr lang="en-US" sz="2800" dirty="0">
                <a:solidFill>
                  <a:srgbClr val="FFFFFF"/>
                </a:solidFill>
                <a:latin typeface="Times New Roman" panose="02020603050405020304"/>
                <a:cs typeface="Times New Roman" panose="02020603050405020304"/>
              </a:rPr>
              <a:t> </a:t>
            </a:r>
            <a:r>
              <a:rPr lang="en-US" sz="2800" spc="-5" dirty="0">
                <a:solidFill>
                  <a:srgbClr val="FFFFFF"/>
                </a:solidFill>
                <a:latin typeface="Times New Roman" panose="02020603050405020304"/>
                <a:cs typeface="Times New Roman" panose="02020603050405020304"/>
              </a:rPr>
              <a:t>needs</a:t>
            </a:r>
            <a:r>
              <a:rPr lang="en-US" sz="2800" spc="5" dirty="0">
                <a:solidFill>
                  <a:srgbClr val="FFFFFF"/>
                </a:solidFill>
                <a:latin typeface="Times New Roman" panose="02020603050405020304"/>
                <a:cs typeface="Times New Roman" panose="02020603050405020304"/>
              </a:rPr>
              <a:t> </a:t>
            </a:r>
            <a:r>
              <a:rPr lang="en-US" sz="2800" spc="-5" dirty="0">
                <a:solidFill>
                  <a:srgbClr val="FFFFFF"/>
                </a:solidFill>
                <a:latin typeface="Times New Roman" panose="02020603050405020304"/>
                <a:cs typeface="Times New Roman" panose="02020603050405020304"/>
              </a:rPr>
              <a:t>to</a:t>
            </a:r>
            <a:r>
              <a:rPr lang="en-US" sz="2800" dirty="0">
                <a:solidFill>
                  <a:srgbClr val="FFFFFF"/>
                </a:solidFill>
                <a:latin typeface="Times New Roman" panose="02020603050405020304"/>
                <a:cs typeface="Times New Roman" panose="02020603050405020304"/>
              </a:rPr>
              <a:t> </a:t>
            </a:r>
            <a:r>
              <a:rPr lang="en-US" sz="2800" spc="-5" dirty="0">
                <a:solidFill>
                  <a:srgbClr val="FFFFFF"/>
                </a:solidFill>
                <a:latin typeface="Times New Roman" panose="02020603050405020304"/>
                <a:cs typeface="Times New Roman" panose="02020603050405020304"/>
              </a:rPr>
              <a:t>be</a:t>
            </a:r>
            <a:r>
              <a:rPr lang="en-US" sz="2800" dirty="0">
                <a:solidFill>
                  <a:srgbClr val="FFFFFF"/>
                </a:solidFill>
                <a:latin typeface="Times New Roman" panose="02020603050405020304"/>
                <a:cs typeface="Times New Roman" panose="02020603050405020304"/>
              </a:rPr>
              <a:t> </a:t>
            </a:r>
            <a:r>
              <a:rPr lang="en-US" sz="2800" spc="-5" dirty="0">
                <a:solidFill>
                  <a:srgbClr val="FFFFFF"/>
                </a:solidFill>
                <a:latin typeface="Times New Roman" panose="02020603050405020304"/>
                <a:cs typeface="Times New Roman" panose="02020603050405020304"/>
              </a:rPr>
              <a:t>pre-processed, cleaned,</a:t>
            </a:r>
            <a:r>
              <a:rPr lang="en-US" sz="2800" dirty="0">
                <a:solidFill>
                  <a:srgbClr val="FFFFFF"/>
                </a:solidFill>
                <a:latin typeface="Times New Roman" panose="02020603050405020304"/>
                <a:cs typeface="Times New Roman" panose="02020603050405020304"/>
              </a:rPr>
              <a:t> </a:t>
            </a:r>
            <a:r>
              <a:rPr lang="en-US" sz="2800" spc="-5" dirty="0">
                <a:solidFill>
                  <a:srgbClr val="FFFFFF"/>
                </a:solidFill>
                <a:latin typeface="Times New Roman" panose="02020603050405020304"/>
                <a:cs typeface="Times New Roman" panose="02020603050405020304"/>
              </a:rPr>
              <a:t>constructed,</a:t>
            </a:r>
            <a:r>
              <a:rPr lang="en-US" sz="2800" spc="5" dirty="0">
                <a:solidFill>
                  <a:srgbClr val="FFFFFF"/>
                </a:solidFill>
                <a:latin typeface="Times New Roman" panose="02020603050405020304"/>
                <a:cs typeface="Times New Roman" panose="02020603050405020304"/>
              </a:rPr>
              <a:t> </a:t>
            </a:r>
            <a:r>
              <a:rPr lang="en-US" sz="2800" spc="-5" dirty="0">
                <a:solidFill>
                  <a:srgbClr val="FFFFFF"/>
                </a:solidFill>
                <a:latin typeface="Times New Roman" panose="02020603050405020304"/>
                <a:cs typeface="Times New Roman" panose="02020603050405020304"/>
              </a:rPr>
              <a:t>and</a:t>
            </a:r>
            <a:r>
              <a:rPr lang="en-US" sz="2800" dirty="0">
                <a:solidFill>
                  <a:srgbClr val="FFFFFF"/>
                </a:solidFill>
                <a:latin typeface="Times New Roman" panose="02020603050405020304"/>
                <a:cs typeface="Times New Roman" panose="02020603050405020304"/>
              </a:rPr>
              <a:t> </a:t>
            </a:r>
            <a:r>
              <a:rPr lang="en-US" sz="2800" spc="-5" dirty="0">
                <a:solidFill>
                  <a:srgbClr val="FFFFFF"/>
                </a:solidFill>
                <a:latin typeface="Times New Roman" panose="02020603050405020304"/>
                <a:cs typeface="Times New Roman" panose="02020603050405020304"/>
              </a:rPr>
              <a:t>formatted</a:t>
            </a:r>
            <a:r>
              <a:rPr lang="en-US" sz="2800" spc="5" dirty="0">
                <a:solidFill>
                  <a:srgbClr val="FFFFFF"/>
                </a:solidFill>
                <a:latin typeface="Times New Roman" panose="02020603050405020304"/>
                <a:cs typeface="Times New Roman" panose="02020603050405020304"/>
              </a:rPr>
              <a:t> </a:t>
            </a:r>
            <a:r>
              <a:rPr lang="en-US" sz="2800" spc="-5" dirty="0">
                <a:solidFill>
                  <a:srgbClr val="FFFFFF"/>
                </a:solidFill>
                <a:latin typeface="Times New Roman" panose="02020603050405020304"/>
                <a:cs typeface="Times New Roman" panose="02020603050405020304"/>
              </a:rPr>
              <a:t>in</a:t>
            </a:r>
            <a:r>
              <a:rPr lang="en-US" sz="2800" dirty="0">
                <a:solidFill>
                  <a:srgbClr val="FFFFFF"/>
                </a:solidFill>
                <a:latin typeface="Times New Roman" panose="02020603050405020304"/>
                <a:cs typeface="Times New Roman" panose="02020603050405020304"/>
              </a:rPr>
              <a:t> </a:t>
            </a:r>
            <a:r>
              <a:rPr lang="en-US" sz="2800" spc="-5" dirty="0">
                <a:solidFill>
                  <a:srgbClr val="FFFFFF"/>
                </a:solidFill>
                <a:latin typeface="Times New Roman" panose="02020603050405020304"/>
                <a:cs typeface="Times New Roman" panose="02020603050405020304"/>
              </a:rPr>
              <a:t>a</a:t>
            </a:r>
            <a:r>
              <a:rPr lang="en-US" sz="2800" spc="5" dirty="0">
                <a:solidFill>
                  <a:srgbClr val="FFFFFF"/>
                </a:solidFill>
                <a:latin typeface="Times New Roman" panose="02020603050405020304"/>
                <a:cs typeface="Times New Roman" panose="02020603050405020304"/>
              </a:rPr>
              <a:t> </a:t>
            </a:r>
            <a:r>
              <a:rPr lang="en-US" sz="2800" spc="-5" dirty="0">
                <a:solidFill>
                  <a:srgbClr val="FFFFFF"/>
                </a:solidFill>
                <a:latin typeface="Times New Roman" panose="02020603050405020304"/>
                <a:cs typeface="Times New Roman" panose="02020603050405020304"/>
              </a:rPr>
              <a:t>style</a:t>
            </a:r>
            <a:r>
              <a:rPr lang="en-US" sz="2800" dirty="0">
                <a:solidFill>
                  <a:srgbClr val="FFFFFF"/>
                </a:solidFill>
                <a:latin typeface="Times New Roman" panose="02020603050405020304"/>
                <a:cs typeface="Times New Roman" panose="02020603050405020304"/>
              </a:rPr>
              <a:t> </a:t>
            </a:r>
            <a:r>
              <a:rPr lang="en-US" sz="2800" spc="-5" dirty="0">
                <a:solidFill>
                  <a:srgbClr val="FFFFFF"/>
                </a:solidFill>
                <a:latin typeface="Times New Roman" panose="02020603050405020304"/>
                <a:cs typeface="Times New Roman" panose="02020603050405020304"/>
              </a:rPr>
              <a:t>that</a:t>
            </a:r>
            <a:r>
              <a:rPr lang="en-US" sz="2800" dirty="0">
                <a:solidFill>
                  <a:srgbClr val="FFFFFF"/>
                </a:solidFill>
                <a:latin typeface="Times New Roman" panose="02020603050405020304"/>
                <a:cs typeface="Times New Roman" panose="02020603050405020304"/>
              </a:rPr>
              <a:t> </a:t>
            </a:r>
            <a:r>
              <a:rPr lang="en-US" sz="2800" spc="-5" dirty="0">
                <a:solidFill>
                  <a:srgbClr val="FFFFFF"/>
                </a:solidFill>
                <a:latin typeface="Times New Roman" panose="02020603050405020304"/>
                <a:cs typeface="Times New Roman" panose="02020603050405020304"/>
              </a:rPr>
              <a:t>can</a:t>
            </a:r>
            <a:r>
              <a:rPr lang="en-US" sz="2800" dirty="0">
                <a:solidFill>
                  <a:srgbClr val="FFFFFF"/>
                </a:solidFill>
                <a:latin typeface="Times New Roman" panose="02020603050405020304"/>
                <a:cs typeface="Times New Roman" panose="02020603050405020304"/>
              </a:rPr>
              <a:t> </a:t>
            </a:r>
            <a:r>
              <a:rPr lang="en-US" sz="2800" spc="-5" dirty="0">
                <a:solidFill>
                  <a:srgbClr val="FFFFFF"/>
                </a:solidFill>
                <a:latin typeface="Times New Roman" panose="02020603050405020304"/>
                <a:cs typeface="Times New Roman" panose="02020603050405020304"/>
              </a:rPr>
              <a:t>work.</a:t>
            </a:r>
          </a:p>
          <a:p>
            <a:pPr marL="241300" indent="-228600">
              <a:lnSpc>
                <a:spcPct val="150000"/>
              </a:lnSpc>
              <a:spcBef>
                <a:spcPts val="95"/>
              </a:spcBef>
              <a:buFont typeface="Arial MT"/>
              <a:buChar char="•"/>
              <a:tabLst>
                <a:tab pos="241300" algn="l"/>
              </a:tabLst>
            </a:pPr>
            <a:r>
              <a:rPr lang="en-US" sz="2800" dirty="0">
                <a:latin typeface="Times New Roman" pitchFamily="18" charset="0"/>
                <a:cs typeface="Times New Roman" pitchFamily="18" charset="0"/>
              </a:rPr>
              <a:t>Data  Processing techniques Provide cleaning of  Data Samples that will be used for better performance. </a:t>
            </a:r>
          </a:p>
          <a:p>
            <a:pPr marL="241300" indent="-228600">
              <a:lnSpc>
                <a:spcPct val="150000"/>
              </a:lnSpc>
              <a:spcBef>
                <a:spcPts val="5"/>
              </a:spcBef>
              <a:buFont typeface="Arial MT"/>
              <a:buChar char="•"/>
              <a:tabLst>
                <a:tab pos="241300" algn="l"/>
              </a:tabLst>
            </a:pPr>
            <a:r>
              <a:rPr lang="en-US" sz="2800" spc="60" dirty="0">
                <a:solidFill>
                  <a:srgbClr val="FFFFFF"/>
                </a:solidFill>
                <a:latin typeface="Times New Roman" panose="02020603050405020304"/>
                <a:cs typeface="Times New Roman" panose="02020603050405020304"/>
              </a:rPr>
              <a:t>After</a:t>
            </a:r>
            <a:r>
              <a:rPr lang="en-US" sz="2800" spc="150" dirty="0">
                <a:solidFill>
                  <a:srgbClr val="FFFFFF"/>
                </a:solidFill>
                <a:latin typeface="Times New Roman" panose="02020603050405020304"/>
                <a:cs typeface="Times New Roman" panose="02020603050405020304"/>
              </a:rPr>
              <a:t> </a:t>
            </a:r>
            <a:r>
              <a:rPr lang="en-US" sz="2800" spc="55" dirty="0">
                <a:solidFill>
                  <a:srgbClr val="FFFFFF"/>
                </a:solidFill>
                <a:latin typeface="Times New Roman" panose="02020603050405020304"/>
                <a:cs typeface="Times New Roman" panose="02020603050405020304"/>
              </a:rPr>
              <a:t>data</a:t>
            </a:r>
            <a:r>
              <a:rPr lang="en-US" sz="2800" spc="160" dirty="0">
                <a:solidFill>
                  <a:srgbClr val="FFFFFF"/>
                </a:solidFill>
                <a:latin typeface="Times New Roman" panose="02020603050405020304"/>
                <a:cs typeface="Times New Roman" panose="02020603050405020304"/>
              </a:rPr>
              <a:t> </a:t>
            </a:r>
            <a:r>
              <a:rPr lang="en-US" sz="2800" spc="35" dirty="0">
                <a:solidFill>
                  <a:srgbClr val="FFFFFF"/>
                </a:solidFill>
                <a:latin typeface="Times New Roman" panose="02020603050405020304"/>
                <a:cs typeface="Times New Roman" panose="02020603050405020304"/>
              </a:rPr>
              <a:t>is</a:t>
            </a:r>
            <a:r>
              <a:rPr lang="en-US" sz="2800" spc="155" dirty="0">
                <a:solidFill>
                  <a:srgbClr val="FFFFFF"/>
                </a:solidFill>
                <a:latin typeface="Times New Roman" panose="02020603050405020304"/>
                <a:cs typeface="Times New Roman" panose="02020603050405020304"/>
              </a:rPr>
              <a:t> </a:t>
            </a:r>
            <a:r>
              <a:rPr lang="en-US" sz="2800" spc="70" dirty="0">
                <a:solidFill>
                  <a:srgbClr val="FFFFFF"/>
                </a:solidFill>
                <a:latin typeface="Times New Roman" panose="02020603050405020304"/>
                <a:cs typeface="Times New Roman" panose="02020603050405020304"/>
              </a:rPr>
              <a:t>preprocessed,</a:t>
            </a:r>
            <a:r>
              <a:rPr lang="en-US" sz="2800" spc="160" dirty="0">
                <a:solidFill>
                  <a:srgbClr val="FFFFFF"/>
                </a:solidFill>
                <a:latin typeface="Times New Roman" panose="02020603050405020304"/>
                <a:cs typeface="Times New Roman" panose="02020603050405020304"/>
              </a:rPr>
              <a:t> </a:t>
            </a:r>
            <a:r>
              <a:rPr lang="en-US" sz="2800" spc="35" dirty="0">
                <a:solidFill>
                  <a:srgbClr val="FFFFFF"/>
                </a:solidFill>
                <a:latin typeface="Times New Roman" panose="02020603050405020304"/>
                <a:cs typeface="Times New Roman" panose="02020603050405020304"/>
              </a:rPr>
              <a:t>it</a:t>
            </a:r>
            <a:r>
              <a:rPr lang="en-US" sz="2800" spc="155" dirty="0">
                <a:solidFill>
                  <a:srgbClr val="FFFFFF"/>
                </a:solidFill>
                <a:latin typeface="Times New Roman" panose="02020603050405020304"/>
                <a:cs typeface="Times New Roman" panose="02020603050405020304"/>
              </a:rPr>
              <a:t> </a:t>
            </a:r>
            <a:r>
              <a:rPr lang="en-US" sz="2800" spc="35" dirty="0">
                <a:solidFill>
                  <a:srgbClr val="FFFFFF"/>
                </a:solidFill>
                <a:latin typeface="Times New Roman" panose="02020603050405020304"/>
                <a:cs typeface="Times New Roman" panose="02020603050405020304"/>
              </a:rPr>
              <a:t>is</a:t>
            </a:r>
            <a:r>
              <a:rPr lang="en-US" sz="2800" spc="160" dirty="0">
                <a:solidFill>
                  <a:srgbClr val="FFFFFF"/>
                </a:solidFill>
                <a:latin typeface="Times New Roman" panose="02020603050405020304"/>
                <a:cs typeface="Times New Roman" panose="02020603050405020304"/>
              </a:rPr>
              <a:t> </a:t>
            </a:r>
            <a:r>
              <a:rPr lang="en-US" sz="2800" spc="65" dirty="0">
                <a:solidFill>
                  <a:srgbClr val="FFFFFF"/>
                </a:solidFill>
                <a:latin typeface="Times New Roman" panose="02020603050405020304"/>
                <a:cs typeface="Times New Roman" panose="02020603050405020304"/>
              </a:rPr>
              <a:t>added</a:t>
            </a:r>
            <a:r>
              <a:rPr lang="en-US" sz="2800" spc="170" dirty="0">
                <a:solidFill>
                  <a:srgbClr val="FFFFFF"/>
                </a:solidFill>
                <a:latin typeface="Times New Roman" panose="02020603050405020304"/>
                <a:cs typeface="Times New Roman" panose="02020603050405020304"/>
              </a:rPr>
              <a:t> </a:t>
            </a:r>
            <a:r>
              <a:rPr lang="en-US" sz="2800" spc="40" dirty="0">
                <a:solidFill>
                  <a:srgbClr val="FFFFFF"/>
                </a:solidFill>
                <a:latin typeface="Times New Roman" panose="02020603050405020304"/>
                <a:cs typeface="Times New Roman" panose="02020603050405020304"/>
              </a:rPr>
              <a:t>to</a:t>
            </a:r>
            <a:r>
              <a:rPr lang="en-US" sz="2800" spc="165" dirty="0">
                <a:solidFill>
                  <a:srgbClr val="FFFFFF"/>
                </a:solidFill>
                <a:latin typeface="Times New Roman" panose="02020603050405020304"/>
                <a:cs typeface="Times New Roman" panose="02020603050405020304"/>
              </a:rPr>
              <a:t> the </a:t>
            </a:r>
            <a:r>
              <a:rPr lang="en-US" sz="2800" b="1" dirty="0">
                <a:latin typeface="Times New Roman" panose="02020603050405020304" pitchFamily="18" charset="0"/>
                <a:cs typeface="Times New Roman" panose="02020603050405020304" pitchFamily="18" charset="0"/>
              </a:rPr>
              <a:t>Malicious URL </a:t>
            </a:r>
            <a:r>
              <a:rPr lang="en-US" sz="2800" spc="30" dirty="0">
                <a:solidFill>
                  <a:srgbClr val="FFFFFF"/>
                </a:solidFill>
                <a:latin typeface="Times New Roman" panose="02020603050405020304"/>
                <a:cs typeface="Times New Roman" panose="02020603050405020304"/>
              </a:rPr>
              <a:t>dataset,</a:t>
            </a:r>
            <a:r>
              <a:rPr lang="en-US" sz="2800" spc="80" dirty="0">
                <a:solidFill>
                  <a:srgbClr val="FFFFFF"/>
                </a:solidFill>
                <a:latin typeface="Times New Roman" panose="02020603050405020304"/>
                <a:cs typeface="Times New Roman" panose="02020603050405020304"/>
              </a:rPr>
              <a:t> </a:t>
            </a:r>
            <a:r>
              <a:rPr lang="en-US" sz="2800" spc="25" dirty="0">
                <a:solidFill>
                  <a:srgbClr val="FFFFFF"/>
                </a:solidFill>
                <a:latin typeface="Times New Roman" panose="02020603050405020304"/>
                <a:cs typeface="Times New Roman" panose="02020603050405020304"/>
              </a:rPr>
              <a:t>which</a:t>
            </a:r>
            <a:r>
              <a:rPr lang="en-US" sz="2800" spc="90" dirty="0">
                <a:solidFill>
                  <a:srgbClr val="FFFFFF"/>
                </a:solidFill>
                <a:latin typeface="Times New Roman" panose="02020603050405020304"/>
                <a:cs typeface="Times New Roman" panose="02020603050405020304"/>
              </a:rPr>
              <a:t> </a:t>
            </a:r>
            <a:r>
              <a:rPr lang="en-US" sz="2800" spc="25" dirty="0">
                <a:solidFill>
                  <a:srgbClr val="FFFFFF"/>
                </a:solidFill>
                <a:latin typeface="Times New Roman" panose="02020603050405020304"/>
                <a:cs typeface="Times New Roman" panose="02020603050405020304"/>
              </a:rPr>
              <a:t>can</a:t>
            </a:r>
            <a:r>
              <a:rPr lang="en-US" sz="2800" spc="90" dirty="0">
                <a:solidFill>
                  <a:srgbClr val="FFFFFF"/>
                </a:solidFill>
                <a:latin typeface="Times New Roman" panose="02020603050405020304"/>
                <a:cs typeface="Times New Roman" panose="02020603050405020304"/>
              </a:rPr>
              <a:t> </a:t>
            </a:r>
            <a:r>
              <a:rPr lang="en-US" sz="2800" spc="20" dirty="0">
                <a:solidFill>
                  <a:srgbClr val="FFFFFF"/>
                </a:solidFill>
                <a:latin typeface="Times New Roman" panose="02020603050405020304"/>
                <a:cs typeface="Times New Roman" panose="02020603050405020304"/>
              </a:rPr>
              <a:t>be</a:t>
            </a:r>
            <a:r>
              <a:rPr lang="en-US" sz="2800" spc="90" dirty="0">
                <a:solidFill>
                  <a:srgbClr val="FFFFFF"/>
                </a:solidFill>
                <a:latin typeface="Times New Roman" panose="02020603050405020304"/>
                <a:cs typeface="Times New Roman" panose="02020603050405020304"/>
              </a:rPr>
              <a:t> </a:t>
            </a:r>
            <a:r>
              <a:rPr lang="en-US" sz="2800" spc="30" dirty="0">
                <a:solidFill>
                  <a:srgbClr val="FFFFFF"/>
                </a:solidFill>
                <a:latin typeface="Times New Roman" panose="02020603050405020304"/>
                <a:cs typeface="Times New Roman" panose="02020603050405020304"/>
              </a:rPr>
              <a:t>used</a:t>
            </a:r>
            <a:r>
              <a:rPr lang="en-US" sz="2800" spc="90" dirty="0">
                <a:solidFill>
                  <a:srgbClr val="FFFFFF"/>
                </a:solidFill>
                <a:latin typeface="Times New Roman" panose="02020603050405020304"/>
                <a:cs typeface="Times New Roman" panose="02020603050405020304"/>
              </a:rPr>
              <a:t> </a:t>
            </a:r>
            <a:r>
              <a:rPr lang="en-US" sz="2800" spc="25" dirty="0">
                <a:solidFill>
                  <a:srgbClr val="FFFFFF"/>
                </a:solidFill>
                <a:latin typeface="Times New Roman" panose="02020603050405020304"/>
                <a:cs typeface="Times New Roman" panose="02020603050405020304"/>
              </a:rPr>
              <a:t>for</a:t>
            </a:r>
            <a:r>
              <a:rPr lang="en-US" sz="2800" spc="85" dirty="0">
                <a:solidFill>
                  <a:srgbClr val="FFFFFF"/>
                </a:solidFill>
                <a:latin typeface="Times New Roman" panose="02020603050405020304"/>
                <a:cs typeface="Times New Roman" panose="02020603050405020304"/>
              </a:rPr>
              <a:t> </a:t>
            </a:r>
            <a:r>
              <a:rPr lang="en-US" sz="2800" spc="35" dirty="0">
                <a:solidFill>
                  <a:srgbClr val="FFFFFF"/>
                </a:solidFill>
                <a:latin typeface="Times New Roman" panose="02020603050405020304"/>
                <a:cs typeface="Times New Roman" panose="02020603050405020304"/>
              </a:rPr>
              <a:t>training</a:t>
            </a:r>
            <a:r>
              <a:rPr lang="en-US" sz="2800" spc="90" dirty="0">
                <a:solidFill>
                  <a:srgbClr val="FFFFFF"/>
                </a:solidFill>
                <a:latin typeface="Times New Roman" panose="02020603050405020304"/>
                <a:cs typeface="Times New Roman" panose="02020603050405020304"/>
              </a:rPr>
              <a:t> </a:t>
            </a:r>
            <a:r>
              <a:rPr lang="en-US" sz="2800" spc="25" dirty="0">
                <a:solidFill>
                  <a:srgbClr val="FFFFFF"/>
                </a:solidFill>
                <a:latin typeface="Times New Roman" panose="02020603050405020304"/>
                <a:cs typeface="Times New Roman" panose="02020603050405020304"/>
              </a:rPr>
              <a:t>and </a:t>
            </a:r>
            <a:r>
              <a:rPr lang="en-US" sz="2800" spc="-5" dirty="0">
                <a:solidFill>
                  <a:srgbClr val="FFFFFF"/>
                </a:solidFill>
                <a:latin typeface="Times New Roman" panose="02020603050405020304"/>
                <a:cs typeface="Times New Roman" panose="02020603050405020304"/>
              </a:rPr>
              <a:t>testing purposes.</a:t>
            </a:r>
            <a:endParaRPr lang="en-US" sz="2800" dirty="0">
              <a:latin typeface="Times New Roman" panose="02020603050405020304"/>
              <a:cs typeface="Times New Roman" panose="02020603050405020304"/>
            </a:endParaRPr>
          </a:p>
          <a:p>
            <a:pPr marL="241300" indent="-228600">
              <a:lnSpc>
                <a:spcPct val="150000"/>
              </a:lnSpc>
              <a:spcBef>
                <a:spcPts val="95"/>
              </a:spcBef>
              <a:buFont typeface="Arial MT"/>
              <a:buChar char="•"/>
              <a:tabLst>
                <a:tab pos="241300" algn="l"/>
              </a:tabLst>
            </a:pPr>
            <a:endParaRPr lang="en-US" sz="2400" dirty="0">
              <a:latin typeface="Times New Roman" pitchFamily="18" charset="0"/>
              <a:cs typeface="Times New Roman" pitchFamily="18" charset="0"/>
            </a:endParaRPr>
          </a:p>
          <a:p>
            <a:pPr marL="241300" indent="-228600">
              <a:lnSpc>
                <a:spcPts val="2855"/>
              </a:lnSpc>
              <a:spcBef>
                <a:spcPts val="95"/>
              </a:spcBef>
              <a:buFont typeface="Arial MT"/>
              <a:buChar char="•"/>
              <a:tabLst>
                <a:tab pos="241300" algn="l"/>
              </a:tabLst>
            </a:pPr>
            <a:endParaRPr lang="en-US" sz="2400" dirty="0">
              <a:latin typeface="Times New Roman" panose="02020603050405020304"/>
              <a:cs typeface="Times New Roman" panose="02020603050405020304"/>
            </a:endParaRPr>
          </a:p>
        </p:txBody>
      </p:sp>
      <p:sp>
        <p:nvSpPr>
          <p:cNvPr id="6" name="object 2">
            <a:extLst>
              <a:ext uri="{FF2B5EF4-FFF2-40B4-BE49-F238E27FC236}">
                <a16:creationId xmlns:a16="http://schemas.microsoft.com/office/drawing/2014/main" id="{41F0C999-CC32-4FD5-75DB-4E586B7A7A91}"/>
              </a:ext>
            </a:extLst>
          </p:cNvPr>
          <p:cNvSpPr txBox="1">
            <a:spLocks/>
          </p:cNvSpPr>
          <p:nvPr/>
        </p:nvSpPr>
        <p:spPr>
          <a:xfrm>
            <a:off x="442127" y="486570"/>
            <a:ext cx="11373953" cy="618759"/>
          </a:xfrm>
          <a:prstGeom prst="rect">
            <a:avLst/>
          </a:prstGeom>
          <a:solidFill>
            <a:srgbClr val="FFFFFF">
              <a:alpha val="19999"/>
            </a:srgbClr>
          </a:solidFill>
        </p:spPr>
        <p:txBody>
          <a:bodyPr vert="horz" wrap="square" lIns="0" tIns="3175" rIns="0" bIns="0" rtlCol="0">
            <a:spAutoFit/>
          </a:bodyPr>
          <a:lst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91440">
              <a:spcBef>
                <a:spcPts val="25"/>
              </a:spcBef>
            </a:pPr>
            <a:r>
              <a:rPr lang="en-IN" spc="-5" dirty="0">
                <a:solidFill>
                  <a:srgbClr val="FFFF00"/>
                </a:solidFill>
              </a:rPr>
              <a:t>Data</a:t>
            </a:r>
            <a:r>
              <a:rPr lang="en-IN" spc="-20" dirty="0">
                <a:solidFill>
                  <a:srgbClr val="FFFF00"/>
                </a:solidFill>
              </a:rPr>
              <a:t> </a:t>
            </a:r>
            <a:r>
              <a:rPr lang="en-IN" spc="-5" dirty="0">
                <a:solidFill>
                  <a:srgbClr val="FFFF00"/>
                </a:solidFill>
              </a:rPr>
              <a:t>Preprocessing</a:t>
            </a:r>
          </a:p>
        </p:txBody>
      </p:sp>
    </p:spTree>
    <p:extLst>
      <p:ext uri="{BB962C8B-B14F-4D97-AF65-F5344CB8AC3E}">
        <p14:creationId xmlns:p14="http://schemas.microsoft.com/office/powerpoint/2010/main" val="39488023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0495BEB8-29FE-FAF7-2C74-1A82B8FD2091}"/>
              </a:ext>
            </a:extLst>
          </p:cNvPr>
          <p:cNvSpPr txBox="1">
            <a:spLocks/>
          </p:cNvSpPr>
          <p:nvPr/>
        </p:nvSpPr>
        <p:spPr>
          <a:xfrm>
            <a:off x="1757680" y="158161"/>
            <a:ext cx="8909927" cy="553998"/>
          </a:xfrm>
          <a:prstGeom prst="rect">
            <a:avLst/>
          </a:prstGeom>
          <a:solidFill>
            <a:srgbClr val="FFFFFF">
              <a:alpha val="19999"/>
            </a:srgbClr>
          </a:solidFill>
        </p:spPr>
        <p:txBody>
          <a:bodyPr vert="horz" wrap="square" lIns="0" tIns="0" rIns="0" bIns="0" rtlCol="0">
            <a:spAutoFit/>
          </a:bodyPr>
          <a:lst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solidFill>
                  <a:srgbClr val="FFFF00"/>
                </a:solidFill>
                <a:latin typeface="Times New Roman" pitchFamily="18" charset="0"/>
                <a:cs typeface="Times New Roman" pitchFamily="18" charset="0"/>
              </a:rPr>
              <a:t>Train  and  Test  Modeling</a:t>
            </a:r>
            <a:endParaRPr lang="en-US" sz="3600" dirty="0">
              <a:solidFill>
                <a:srgbClr val="FFFF00"/>
              </a:solidFill>
            </a:endParaRPr>
          </a:p>
        </p:txBody>
      </p:sp>
      <p:sp>
        <p:nvSpPr>
          <p:cNvPr id="6" name="TextBox 5">
            <a:extLst>
              <a:ext uri="{FF2B5EF4-FFF2-40B4-BE49-F238E27FC236}">
                <a16:creationId xmlns:a16="http://schemas.microsoft.com/office/drawing/2014/main" id="{C4A7E3FF-BCEA-20A3-EC9F-4006E48A911B}"/>
              </a:ext>
            </a:extLst>
          </p:cNvPr>
          <p:cNvSpPr txBox="1"/>
          <p:nvPr/>
        </p:nvSpPr>
        <p:spPr>
          <a:xfrm>
            <a:off x="176981" y="836239"/>
            <a:ext cx="12015019" cy="4539191"/>
          </a:xfrm>
          <a:prstGeom prst="rect">
            <a:avLst/>
          </a:prstGeom>
          <a:noFill/>
        </p:spPr>
        <p:txBody>
          <a:bodyPr wrap="square">
            <a:spAutoFit/>
          </a:bodyPr>
          <a:lstStyle/>
          <a:p>
            <a:pPr marL="285750" lvl="0" indent="-285750" algn="just">
              <a:lnSpc>
                <a:spcPct val="150000"/>
              </a:lnSpc>
              <a:buClrTx/>
              <a:buFont typeface="Arial" panose="020B0604020202020204" pitchFamily="34" charset="0"/>
              <a:buChar char="•"/>
            </a:pPr>
            <a:r>
              <a:rPr lang="en-US" sz="2800" dirty="0">
                <a:latin typeface="Times New Roman" pitchFamily="18" charset="0"/>
                <a:cs typeface="Times New Roman" pitchFamily="18" charset="0"/>
              </a:rPr>
              <a:t>We Split  the  data  into  train  and  test data Train will  be used  for training the  model and Test  data to check the performance</a:t>
            </a:r>
          </a:p>
          <a:p>
            <a:pPr marL="285750" lvl="0" indent="-285750" algn="just">
              <a:lnSpc>
                <a:spcPct val="150000"/>
              </a:lnSpc>
              <a:buClrTx/>
              <a:buFont typeface="Arial" panose="020B0604020202020204" pitchFamily="34" charset="0"/>
              <a:buChar char="•"/>
            </a:pPr>
            <a:r>
              <a:rPr lang="en-US" sz="2800" dirty="0"/>
              <a:t> The ratio of 80:20 is a common split in Machine Learning because it provides enough data for training while keeping a sufficient portion for testing.</a:t>
            </a:r>
          </a:p>
          <a:p>
            <a:pPr marL="285750" indent="-285750" algn="just">
              <a:lnSpc>
                <a:spcPct val="150000"/>
              </a:lnSpc>
              <a:buFont typeface="Arial" panose="020B0604020202020204" pitchFamily="34" charset="0"/>
              <a:buChar char="•"/>
            </a:pPr>
            <a:r>
              <a:rPr lang="en-US" sz="2800" spc="-70" dirty="0">
                <a:solidFill>
                  <a:srgbClr val="FFFFFF"/>
                </a:solidFill>
                <a:latin typeface="Times New Roman" panose="02020603050405020304"/>
                <a:cs typeface="Times New Roman" panose="02020603050405020304"/>
              </a:rPr>
              <a:t>We </a:t>
            </a:r>
            <a:r>
              <a:rPr lang="en-US" sz="2800" spc="40" dirty="0">
                <a:solidFill>
                  <a:srgbClr val="FFFFFF"/>
                </a:solidFill>
                <a:latin typeface="Times New Roman" panose="02020603050405020304"/>
                <a:cs typeface="Times New Roman" panose="02020603050405020304"/>
              </a:rPr>
              <a:t>use the </a:t>
            </a:r>
            <a:r>
              <a:rPr lang="en-US" sz="2800" spc="55" dirty="0">
                <a:solidFill>
                  <a:srgbClr val="FFFFFF"/>
                </a:solidFill>
                <a:latin typeface="Times New Roman" panose="02020603050405020304"/>
                <a:cs typeface="Times New Roman" panose="02020603050405020304"/>
              </a:rPr>
              <a:t>preprocessed training dataset </a:t>
            </a:r>
            <a:r>
              <a:rPr lang="en-US" sz="2800" spc="30" dirty="0">
                <a:solidFill>
                  <a:srgbClr val="FFFFFF"/>
                </a:solidFill>
                <a:latin typeface="Times New Roman" panose="02020603050405020304"/>
                <a:cs typeface="Times New Roman" panose="02020603050405020304"/>
              </a:rPr>
              <a:t>to </a:t>
            </a:r>
            <a:r>
              <a:rPr lang="en-US" sz="2800" spc="50" dirty="0">
                <a:solidFill>
                  <a:srgbClr val="FFFFFF"/>
                </a:solidFill>
                <a:latin typeface="Times New Roman" panose="02020603050405020304"/>
                <a:cs typeface="Times New Roman" panose="02020603050405020304"/>
              </a:rPr>
              <a:t>train </a:t>
            </a:r>
            <a:r>
              <a:rPr lang="en-US" sz="2800" spc="45" dirty="0">
                <a:solidFill>
                  <a:srgbClr val="FFFFFF"/>
                </a:solidFill>
                <a:latin typeface="Times New Roman" panose="02020603050405020304"/>
                <a:cs typeface="Times New Roman" panose="02020603050405020304"/>
              </a:rPr>
              <a:t>our </a:t>
            </a:r>
            <a:r>
              <a:rPr lang="en-US" sz="2800" spc="50" dirty="0">
                <a:solidFill>
                  <a:srgbClr val="FFFFFF"/>
                </a:solidFill>
                <a:latin typeface="Times New Roman" panose="02020603050405020304"/>
                <a:cs typeface="Times New Roman" panose="02020603050405020304"/>
              </a:rPr>
              <a:t>model </a:t>
            </a:r>
            <a:r>
              <a:rPr lang="en-US" sz="2800" spc="-5" dirty="0">
                <a:solidFill>
                  <a:srgbClr val="FFFFFF"/>
                </a:solidFill>
                <a:latin typeface="Times New Roman" panose="02020603050405020304"/>
                <a:cs typeface="Times New Roman" panose="02020603050405020304"/>
              </a:rPr>
              <a:t>using </a:t>
            </a:r>
            <a:r>
              <a:rPr lang="en-US" sz="2800" spc="-135" dirty="0">
                <a:solidFill>
                  <a:srgbClr val="FFFFFF"/>
                </a:solidFill>
                <a:latin typeface="Times New Roman" panose="02020603050405020304"/>
                <a:cs typeface="Times New Roman" panose="02020603050405020304"/>
              </a:rPr>
              <a:t> </a:t>
            </a:r>
            <a:r>
              <a:rPr lang="en-US" sz="2800" spc="-5" dirty="0">
                <a:solidFill>
                  <a:srgbClr val="FFFFFF"/>
                </a:solidFill>
                <a:latin typeface="Times New Roman" panose="02020603050405020304"/>
                <a:cs typeface="Times New Roman" panose="02020603050405020304"/>
              </a:rPr>
              <a:t>Algorithms.</a:t>
            </a:r>
            <a:endParaRPr lang="en-US" sz="2800" dirty="0">
              <a:latin typeface="Times New Roman" panose="02020603050405020304"/>
              <a:cs typeface="Times New Roman" panose="02020603050405020304"/>
            </a:endParaRPr>
          </a:p>
          <a:p>
            <a:pPr marL="285750" lvl="0" indent="-285750" algn="just">
              <a:lnSpc>
                <a:spcPct val="150000"/>
              </a:lnSpc>
              <a:buClrTx/>
              <a:buFont typeface="Arial" panose="020B0604020202020204" pitchFamily="34" charset="0"/>
              <a:buChar char="•"/>
            </a:pP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31395939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10628D-751F-618C-48C7-A30809D67E44}"/>
              </a:ext>
            </a:extLst>
          </p:cNvPr>
          <p:cNvSpPr txBox="1"/>
          <p:nvPr/>
        </p:nvSpPr>
        <p:spPr>
          <a:xfrm>
            <a:off x="643669" y="1672784"/>
            <a:ext cx="11189110" cy="3231654"/>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dirty="0">
                <a:latin typeface="+mj-lt"/>
              </a:rPr>
              <a:t>Models are evaluated using classification reports and confusion matrices, </a:t>
            </a:r>
            <a:r>
              <a:rPr kumimoji="0" lang="en-US" sz="2400" b="0" i="0" u="none" strike="noStrike" kern="1200" cap="none" spc="0" normalizeH="0" baseline="0" noProof="0" dirty="0">
                <a:ln>
                  <a:noFill/>
                </a:ln>
                <a:effectLst/>
                <a:uLnTx/>
                <a:uFillTx/>
                <a:latin typeface="+mj-lt"/>
                <a:cs typeface="Arial" panose="020B0604020202020204" pitchFamily="34" charset="0"/>
              </a:rPr>
              <a:t>like precision, recall, and F1 score and measure the accuracy by identifying the </a:t>
            </a:r>
            <a:r>
              <a:rPr lang="en-US" sz="2400" b="1" dirty="0">
                <a:latin typeface="+mj-lt"/>
                <a:cs typeface="Times New Roman" panose="02020603050405020304" pitchFamily="18" charset="0"/>
              </a:rPr>
              <a:t>Malicious URL </a:t>
            </a:r>
            <a:r>
              <a:rPr kumimoji="0" lang="en-US" sz="2400" b="0" i="0" u="none" strike="noStrike" kern="1200" cap="none" spc="0" normalizeH="0" baseline="0" noProof="0" dirty="0">
                <a:ln>
                  <a:noFill/>
                </a:ln>
                <a:effectLst/>
                <a:uLnTx/>
                <a:uFillTx/>
                <a:latin typeface="+mj-lt"/>
                <a:cs typeface="Arial" panose="020B0604020202020204" pitchFamily="34" charset="0"/>
              </a:rPr>
              <a:t>accurately.</a:t>
            </a:r>
            <a:endParaRPr lang="en-US" sz="2400" dirty="0">
              <a:latin typeface="+mj-lt"/>
              <a:cs typeface="Times New Roman" pitchFamily="18" charset="0"/>
            </a:endParaRPr>
          </a:p>
          <a:p>
            <a:pPr marL="342900" lvl="0" indent="-342900" algn="just">
              <a:lnSpc>
                <a:spcPct val="150000"/>
              </a:lnSpc>
              <a:buClrTx/>
              <a:buFont typeface="Arial" panose="020B0604020202020204" pitchFamily="34" charset="0"/>
              <a:buChar char="•"/>
            </a:pPr>
            <a:r>
              <a:rPr lang="en-US" sz="2400" dirty="0">
                <a:latin typeface="Times New Roman" pitchFamily="18" charset="0"/>
                <a:cs typeface="Times New Roman" pitchFamily="18" charset="0"/>
              </a:rPr>
              <a:t>Based on the model trained algorithm we will detect whether the given URL is Phishing or Malicious. </a:t>
            </a:r>
          </a:p>
          <a:p>
            <a:pPr marL="342900" lvl="0" indent="-342900" algn="just">
              <a:buClrTx/>
              <a:buFont typeface="Arial" panose="020B0604020202020204" pitchFamily="34" charset="0"/>
              <a:buChar char="•"/>
            </a:pPr>
            <a:endParaRPr lang="en-US" sz="2400" dirty="0">
              <a:latin typeface="Times New Roman" pitchFamily="18" charset="0"/>
              <a:cs typeface="Times New Roman" pitchFamily="18" charset="0"/>
            </a:endParaRPr>
          </a:p>
        </p:txBody>
      </p:sp>
      <p:sp>
        <p:nvSpPr>
          <p:cNvPr id="10" name="object 2">
            <a:extLst>
              <a:ext uri="{FF2B5EF4-FFF2-40B4-BE49-F238E27FC236}">
                <a16:creationId xmlns:a16="http://schemas.microsoft.com/office/drawing/2014/main" id="{A2B29C60-C4FA-CE4C-C4EF-1A8DADEB4971}"/>
              </a:ext>
            </a:extLst>
          </p:cNvPr>
          <p:cNvSpPr txBox="1">
            <a:spLocks/>
          </p:cNvSpPr>
          <p:nvPr/>
        </p:nvSpPr>
        <p:spPr>
          <a:xfrm>
            <a:off x="643669" y="488389"/>
            <a:ext cx="10904662" cy="500137"/>
          </a:xfrm>
          <a:prstGeom prst="rect">
            <a:avLst/>
          </a:prstGeom>
          <a:solidFill>
            <a:srgbClr val="FFFFFF">
              <a:alpha val="19999"/>
            </a:srgbClr>
          </a:solidFill>
        </p:spPr>
        <p:txBody>
          <a:bodyPr vert="horz" wrap="square" lIns="0" tIns="0" rIns="0" bIns="0" rtlCol="0">
            <a:spAutoFit/>
          </a:bodyPr>
          <a:lst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00965">
              <a:lnSpc>
                <a:spcPts val="3895"/>
              </a:lnSpc>
            </a:pPr>
            <a:r>
              <a:rPr lang="en-IN" sz="3200" b="1" dirty="0">
                <a:solidFill>
                  <a:srgbClr val="FFFF00"/>
                </a:solidFill>
              </a:rPr>
              <a:t>Evaluate and Detec</a:t>
            </a:r>
            <a:r>
              <a:rPr lang="en-IN" sz="3600" b="1" dirty="0">
                <a:solidFill>
                  <a:srgbClr val="FFFF00"/>
                </a:solidFill>
              </a:rPr>
              <a:t>t Malicious URL’s</a:t>
            </a:r>
            <a:endParaRPr lang="en-IN" sz="4400" spc="-5" dirty="0">
              <a:solidFill>
                <a:srgbClr val="FFFF00"/>
              </a:solidFill>
            </a:endParaRPr>
          </a:p>
        </p:txBody>
      </p:sp>
    </p:spTree>
    <p:extLst>
      <p:ext uri="{BB962C8B-B14F-4D97-AF65-F5344CB8AC3E}">
        <p14:creationId xmlns:p14="http://schemas.microsoft.com/office/powerpoint/2010/main" val="25441789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D9C8B70-0D05-890E-DAB5-9D3137C9D70F}"/>
              </a:ext>
            </a:extLst>
          </p:cNvPr>
          <p:cNvSpPr txBox="1"/>
          <p:nvPr/>
        </p:nvSpPr>
        <p:spPr>
          <a:xfrm>
            <a:off x="1396060" y="1325513"/>
            <a:ext cx="10067081" cy="2241960"/>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		Unit testing is a software testing method where individual units or components of a software application are tested in isolation to validate their correctness and functionality. It aims to ensure that each unit behaves as expected according to its design.</a:t>
            </a:r>
            <a:endParaRPr lang="en-IN"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B333157-6347-8496-97A4-053B78A4E049}"/>
              </a:ext>
            </a:extLst>
          </p:cNvPr>
          <p:cNvSpPr txBox="1"/>
          <p:nvPr/>
        </p:nvSpPr>
        <p:spPr>
          <a:xfrm>
            <a:off x="1123513" y="813572"/>
            <a:ext cx="6094070" cy="523220"/>
          </a:xfrm>
          <a:prstGeom prst="rect">
            <a:avLst/>
          </a:prstGeom>
          <a:noFill/>
        </p:spPr>
        <p:txBody>
          <a:bodyPr wrap="square">
            <a:spAutoFit/>
          </a:bodyPr>
          <a:lstStyle/>
          <a:p>
            <a:r>
              <a:rPr lang="en-US" sz="2800" dirty="0">
                <a:solidFill>
                  <a:srgbClr val="FFFF00"/>
                </a:solidFill>
                <a:latin typeface="Times New Roman" panose="02020603050405020304" pitchFamily="18" charset="0"/>
                <a:cs typeface="Times New Roman" panose="02020603050405020304" pitchFamily="18" charset="0"/>
              </a:rPr>
              <a:t>Unit Testing</a:t>
            </a:r>
            <a:endParaRPr lang="en-IN" sz="2800" dirty="0">
              <a:solidFill>
                <a:srgbClr val="FFFF00"/>
              </a:solidFill>
              <a:latin typeface="Times New Roman" panose="02020603050405020304" pitchFamily="18" charset="0"/>
              <a:cs typeface="Times New Roman" panose="02020603050405020304" pitchFamily="18" charset="0"/>
            </a:endParaRPr>
          </a:p>
        </p:txBody>
      </p:sp>
      <p:sp>
        <p:nvSpPr>
          <p:cNvPr id="10" name="object 2">
            <a:extLst>
              <a:ext uri="{FF2B5EF4-FFF2-40B4-BE49-F238E27FC236}">
                <a16:creationId xmlns:a16="http://schemas.microsoft.com/office/drawing/2014/main" id="{1EA565FF-D1DD-230A-CD4D-B7BB85A97CCA}"/>
              </a:ext>
            </a:extLst>
          </p:cNvPr>
          <p:cNvSpPr txBox="1">
            <a:spLocks/>
          </p:cNvSpPr>
          <p:nvPr/>
        </p:nvSpPr>
        <p:spPr>
          <a:xfrm>
            <a:off x="558479" y="187340"/>
            <a:ext cx="10904662" cy="492443"/>
          </a:xfrm>
          <a:prstGeom prst="rect">
            <a:avLst/>
          </a:prstGeom>
          <a:solidFill>
            <a:srgbClr val="FFFFFF">
              <a:alpha val="19999"/>
            </a:srgbClr>
          </a:solidFill>
        </p:spPr>
        <p:txBody>
          <a:bodyPr vert="horz" wrap="square" lIns="0" tIns="0" rIns="0" bIns="0" rtlCol="0">
            <a:spAutoFit/>
          </a:bodyPr>
          <a:lst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b="1" dirty="0">
                <a:solidFill>
                  <a:srgbClr val="FFFF00"/>
                </a:solidFill>
                <a:latin typeface="Times New Roman" panose="02020603050405020304" pitchFamily="18" charset="0"/>
                <a:cs typeface="Times New Roman" panose="02020603050405020304" pitchFamily="18" charset="0"/>
              </a:rPr>
              <a:t>TESTING TECHNIQUES</a:t>
            </a:r>
            <a:endParaRPr lang="en-IN" sz="3200" b="1" dirty="0">
              <a:solidFill>
                <a:srgbClr val="FFFF00"/>
              </a:solidFill>
              <a:latin typeface="Times New Roman" panose="02020603050405020304" pitchFamily="18" charset="0"/>
              <a:cs typeface="Times New Roman" panose="02020603050405020304" pitchFamily="18" charset="0"/>
            </a:endParaRPr>
          </a:p>
        </p:txBody>
      </p:sp>
      <p:sp>
        <p:nvSpPr>
          <p:cNvPr id="11" name="TextBox 11">
            <a:extLst>
              <a:ext uri="{FF2B5EF4-FFF2-40B4-BE49-F238E27FC236}">
                <a16:creationId xmlns:a16="http://schemas.microsoft.com/office/drawing/2014/main" id="{A8CA3EB5-FC44-3AD0-D7F1-10FB72FCC75A}"/>
              </a:ext>
            </a:extLst>
          </p:cNvPr>
          <p:cNvSpPr txBox="1"/>
          <p:nvPr/>
        </p:nvSpPr>
        <p:spPr>
          <a:xfrm>
            <a:off x="887925" y="3689983"/>
            <a:ext cx="3728622"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FFFF00"/>
                </a:solidFill>
                <a:latin typeface="Times New Roman" panose="02020603050405020304" pitchFamily="18" charset="0"/>
                <a:cs typeface="Times New Roman" panose="02020603050405020304" pitchFamily="18" charset="0"/>
              </a:rPr>
              <a:t>Integration Testing</a:t>
            </a:r>
            <a:endParaRPr lang="en-IN" sz="2800" dirty="0">
              <a:solidFill>
                <a:srgbClr val="FFFF00"/>
              </a:solidFill>
              <a:latin typeface="Times New Roman" panose="02020603050405020304" pitchFamily="18" charset="0"/>
              <a:cs typeface="Times New Roman" panose="02020603050405020304" pitchFamily="18" charset="0"/>
            </a:endParaRPr>
          </a:p>
        </p:txBody>
      </p:sp>
      <p:sp>
        <p:nvSpPr>
          <p:cNvPr id="12" name="TextBox 12">
            <a:extLst>
              <a:ext uri="{FF2B5EF4-FFF2-40B4-BE49-F238E27FC236}">
                <a16:creationId xmlns:a16="http://schemas.microsoft.com/office/drawing/2014/main" id="{5FD81E0C-7DF3-1318-8723-9605E10AC6D3}"/>
              </a:ext>
            </a:extLst>
          </p:cNvPr>
          <p:cNvSpPr txBox="1"/>
          <p:nvPr/>
        </p:nvSpPr>
        <p:spPr>
          <a:xfrm>
            <a:off x="1249480" y="4334061"/>
            <a:ext cx="10360239" cy="1687963"/>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en-US" dirty="0"/>
              <a:t>	</a:t>
            </a:r>
            <a:r>
              <a:rPr lang="en-US" sz="2400" dirty="0">
                <a:latin typeface="Times New Roman" panose="02020603050405020304" pitchFamily="18" charset="0"/>
                <a:cs typeface="Times New Roman" panose="02020603050405020304" pitchFamily="18" charset="0"/>
              </a:rPr>
              <a:t>Integration testing is also a software testing method, ensures that different parts of a software system work together smoothly. It makes interactions and interfaces between these units to detect any integration issues.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63955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a:extLst>
              <a:ext uri="{FF2B5EF4-FFF2-40B4-BE49-F238E27FC236}">
                <a16:creationId xmlns:a16="http://schemas.microsoft.com/office/drawing/2014/main" id="{DD605ED3-DC37-87AC-5B91-DD2A9007FEE3}"/>
              </a:ext>
            </a:extLst>
          </p:cNvPr>
          <p:cNvSpPr txBox="1"/>
          <p:nvPr/>
        </p:nvSpPr>
        <p:spPr>
          <a:xfrm>
            <a:off x="1261996" y="1092068"/>
            <a:ext cx="3364637"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FFFF00"/>
                </a:solidFill>
                <a:latin typeface="Times New Roman" panose="02020603050405020304" pitchFamily="18" charset="0"/>
                <a:cs typeface="Times New Roman" panose="02020603050405020304" pitchFamily="18" charset="0"/>
              </a:rPr>
              <a:t>Validation Testing</a:t>
            </a:r>
            <a:endParaRPr lang="en-IN" sz="2800" dirty="0">
              <a:solidFill>
                <a:srgbClr val="FFFF00"/>
              </a:solidFill>
              <a:latin typeface="Times New Roman" panose="02020603050405020304" pitchFamily="18" charset="0"/>
              <a:cs typeface="Times New Roman" panose="02020603050405020304" pitchFamily="18" charset="0"/>
            </a:endParaRPr>
          </a:p>
        </p:txBody>
      </p:sp>
      <p:sp>
        <p:nvSpPr>
          <p:cNvPr id="3" name="TextBox 4">
            <a:extLst>
              <a:ext uri="{FF2B5EF4-FFF2-40B4-BE49-F238E27FC236}">
                <a16:creationId xmlns:a16="http://schemas.microsoft.com/office/drawing/2014/main" id="{5F108121-1426-4C59-82BA-2A61DF876DED}"/>
              </a:ext>
            </a:extLst>
          </p:cNvPr>
          <p:cNvSpPr txBox="1"/>
          <p:nvPr/>
        </p:nvSpPr>
        <p:spPr>
          <a:xfrm>
            <a:off x="1261996" y="1941037"/>
            <a:ext cx="10440139" cy="26001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en-US" dirty="0">
                <a:solidFill>
                  <a:schemeClr val="bg1"/>
                </a:solidFill>
                <a:latin typeface="Arial" panose="020B0604020202020204" pitchFamily="34" charset="0"/>
                <a:cs typeface="Arial" panose="020B0604020202020204" pitchFamily="34" charset="0"/>
              </a:rPr>
              <a:t>	</a:t>
            </a:r>
            <a:r>
              <a:rPr lang="en-US" sz="2800" dirty="0">
                <a:latin typeface="Times New Roman" panose="02020603050405020304" pitchFamily="18" charset="0"/>
                <a:cs typeface="Times New Roman" panose="02020603050405020304" pitchFamily="18" charset="0"/>
              </a:rPr>
              <a:t>Validation testing verifies that the software meets the requirements and fulfills the intended purpose, ensuring it satisfies the needs of the end-users. It validates the overall behaviour and performance of the software against specified criteria.</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69598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818" y="168458"/>
            <a:ext cx="10353762" cy="658762"/>
          </a:xfrm>
        </p:spPr>
        <p:txBody>
          <a:bodyPr>
            <a:normAutofit fontScale="90000"/>
          </a:bodyPr>
          <a:lstStyle/>
          <a:p>
            <a:r>
              <a:rPr lang="en-US" dirty="0">
                <a:solidFill>
                  <a:srgbClr val="FFFF00"/>
                </a:solidFill>
              </a:rPr>
              <a:t>Test Cases</a:t>
            </a:r>
          </a:p>
        </p:txBody>
      </p:sp>
      <p:graphicFrame>
        <p:nvGraphicFramePr>
          <p:cNvPr id="6" name="Content Placeholder 3">
            <a:extLst>
              <a:ext uri="{FF2B5EF4-FFF2-40B4-BE49-F238E27FC236}">
                <a16:creationId xmlns:a16="http://schemas.microsoft.com/office/drawing/2014/main" id="{89133612-E90A-118D-EA91-593E745036FB}"/>
              </a:ext>
            </a:extLst>
          </p:cNvPr>
          <p:cNvGraphicFramePr>
            <a:graphicFrameLocks noGrp="1"/>
          </p:cNvGraphicFramePr>
          <p:nvPr>
            <p:ph sz="quarter" idx="1"/>
            <p:extLst>
              <p:ext uri="{D42A27DB-BD31-4B8C-83A1-F6EECF244321}">
                <p14:modId xmlns:p14="http://schemas.microsoft.com/office/powerpoint/2010/main" val="3871496703"/>
              </p:ext>
            </p:extLst>
          </p:nvPr>
        </p:nvGraphicFramePr>
        <p:xfrm>
          <a:off x="1677580" y="992593"/>
          <a:ext cx="9398000" cy="5313680"/>
        </p:xfrm>
        <a:graphic>
          <a:graphicData uri="http://schemas.openxmlformats.org/drawingml/2006/table">
            <a:tbl>
              <a:tblPr/>
              <a:tblGrid>
                <a:gridCol w="891693">
                  <a:extLst>
                    <a:ext uri="{9D8B030D-6E8A-4147-A177-3AD203B41FA5}">
                      <a16:colId xmlns:a16="http://schemas.microsoft.com/office/drawing/2014/main" val="20000"/>
                    </a:ext>
                  </a:extLst>
                </a:gridCol>
                <a:gridCol w="1518079">
                  <a:extLst>
                    <a:ext uri="{9D8B030D-6E8A-4147-A177-3AD203B41FA5}">
                      <a16:colId xmlns:a16="http://schemas.microsoft.com/office/drawing/2014/main" val="20001"/>
                    </a:ext>
                  </a:extLst>
                </a:gridCol>
                <a:gridCol w="1726140">
                  <a:extLst>
                    <a:ext uri="{9D8B030D-6E8A-4147-A177-3AD203B41FA5}">
                      <a16:colId xmlns:a16="http://schemas.microsoft.com/office/drawing/2014/main" val="20002"/>
                    </a:ext>
                  </a:extLst>
                </a:gridCol>
                <a:gridCol w="1709627">
                  <a:extLst>
                    <a:ext uri="{9D8B030D-6E8A-4147-A177-3AD203B41FA5}">
                      <a16:colId xmlns:a16="http://schemas.microsoft.com/office/drawing/2014/main" val="20003"/>
                    </a:ext>
                  </a:extLst>
                </a:gridCol>
                <a:gridCol w="1981540">
                  <a:extLst>
                    <a:ext uri="{9D8B030D-6E8A-4147-A177-3AD203B41FA5}">
                      <a16:colId xmlns:a16="http://schemas.microsoft.com/office/drawing/2014/main" val="20004"/>
                    </a:ext>
                  </a:extLst>
                </a:gridCol>
                <a:gridCol w="1570921">
                  <a:extLst>
                    <a:ext uri="{9D8B030D-6E8A-4147-A177-3AD203B41FA5}">
                      <a16:colId xmlns:a16="http://schemas.microsoft.com/office/drawing/2014/main" val="20005"/>
                    </a:ext>
                  </a:extLst>
                </a:gridCol>
              </a:tblGrid>
              <a:tr h="523097">
                <a:tc>
                  <a:txBody>
                    <a:bodyPr/>
                    <a:lstStyle/>
                    <a:p>
                      <a:pPr marL="0" marR="0" algn="ctr">
                        <a:lnSpc>
                          <a:spcPct val="150000"/>
                        </a:lnSpc>
                        <a:spcBef>
                          <a:spcPts val="0"/>
                        </a:spcBef>
                        <a:spcAft>
                          <a:spcPts val="0"/>
                        </a:spcAft>
                      </a:pPr>
                      <a:r>
                        <a:rPr lang="en-US" sz="1000" b="1" dirty="0">
                          <a:solidFill>
                            <a:schemeClr val="bg2"/>
                          </a:solidFill>
                          <a:latin typeface="Times New Roman"/>
                          <a:ea typeface="Arial Unicode MS"/>
                        </a:rPr>
                        <a:t>S. No.</a:t>
                      </a:r>
                      <a:endParaRPr lang="en-US" sz="1000" dirty="0">
                        <a:solidFill>
                          <a:schemeClr val="bg2"/>
                        </a:solidFill>
                        <a:latin typeface="Times New Roman"/>
                        <a:ea typeface="Times New Roman"/>
                      </a:endParaRPr>
                    </a:p>
                  </a:txBody>
                  <a:tcPr marL="54617" marR="54617" marT="76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0" marR="0" algn="ctr">
                        <a:lnSpc>
                          <a:spcPct val="150000"/>
                        </a:lnSpc>
                        <a:spcBef>
                          <a:spcPts val="0"/>
                        </a:spcBef>
                        <a:spcAft>
                          <a:spcPts val="0"/>
                        </a:spcAft>
                      </a:pPr>
                      <a:r>
                        <a:rPr lang="en-US" sz="1000" b="1" dirty="0">
                          <a:solidFill>
                            <a:schemeClr val="bg2"/>
                          </a:solidFill>
                          <a:latin typeface="Times New Roman"/>
                          <a:ea typeface="Arial Unicode MS"/>
                        </a:rPr>
                        <a:t>TEST CASES</a:t>
                      </a:r>
                      <a:endParaRPr lang="en-US" sz="1000" dirty="0">
                        <a:solidFill>
                          <a:schemeClr val="bg2"/>
                        </a:solidFill>
                        <a:latin typeface="Times New Roman"/>
                        <a:ea typeface="Times New Roman"/>
                      </a:endParaRPr>
                    </a:p>
                  </a:txBody>
                  <a:tcPr marL="54617" marR="54617" marT="76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0" marR="0" algn="ctr">
                        <a:lnSpc>
                          <a:spcPct val="150000"/>
                        </a:lnSpc>
                        <a:spcBef>
                          <a:spcPts val="0"/>
                        </a:spcBef>
                        <a:spcAft>
                          <a:spcPts val="0"/>
                        </a:spcAft>
                      </a:pPr>
                      <a:r>
                        <a:rPr lang="en-US" sz="1000" b="1">
                          <a:solidFill>
                            <a:schemeClr val="bg2"/>
                          </a:solidFill>
                          <a:latin typeface="Times New Roman"/>
                          <a:ea typeface="Arial Unicode MS"/>
                        </a:rPr>
                        <a:t>INPUT</a:t>
                      </a:r>
                      <a:endParaRPr lang="en-US" sz="1000">
                        <a:solidFill>
                          <a:schemeClr val="bg2"/>
                        </a:solidFill>
                        <a:latin typeface="Times New Roman"/>
                        <a:ea typeface="Times New Roman"/>
                      </a:endParaRPr>
                    </a:p>
                  </a:txBody>
                  <a:tcPr marL="54617" marR="54617" marT="76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0" marR="0" algn="ctr">
                        <a:lnSpc>
                          <a:spcPct val="150000"/>
                        </a:lnSpc>
                        <a:spcBef>
                          <a:spcPts val="0"/>
                        </a:spcBef>
                        <a:spcAft>
                          <a:spcPts val="0"/>
                        </a:spcAft>
                      </a:pPr>
                      <a:r>
                        <a:rPr lang="en-US" sz="1000" b="1">
                          <a:solidFill>
                            <a:schemeClr val="bg2"/>
                          </a:solidFill>
                          <a:latin typeface="Times New Roman"/>
                          <a:ea typeface="Arial Unicode MS"/>
                        </a:rPr>
                        <a:t>EXPECTED  RESULT</a:t>
                      </a:r>
                      <a:endParaRPr lang="en-US" sz="1000">
                        <a:solidFill>
                          <a:schemeClr val="bg2"/>
                        </a:solidFill>
                        <a:latin typeface="Times New Roman"/>
                        <a:ea typeface="Times New Roman"/>
                      </a:endParaRPr>
                    </a:p>
                  </a:txBody>
                  <a:tcPr marL="54617" marR="54617" marT="76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0" marR="0" algn="ctr">
                        <a:lnSpc>
                          <a:spcPct val="150000"/>
                        </a:lnSpc>
                        <a:spcBef>
                          <a:spcPts val="0"/>
                        </a:spcBef>
                        <a:spcAft>
                          <a:spcPts val="0"/>
                        </a:spcAft>
                      </a:pPr>
                      <a:r>
                        <a:rPr lang="en-US" sz="1000" b="1">
                          <a:solidFill>
                            <a:schemeClr val="bg2"/>
                          </a:solidFill>
                          <a:latin typeface="Times New Roman"/>
                          <a:ea typeface="Arial Unicode MS"/>
                        </a:rPr>
                        <a:t>ACTUAL RESULT</a:t>
                      </a:r>
                      <a:endParaRPr lang="en-US" sz="1000">
                        <a:solidFill>
                          <a:schemeClr val="bg2"/>
                        </a:solidFill>
                        <a:latin typeface="Times New Roman"/>
                        <a:ea typeface="Times New Roman"/>
                      </a:endParaRPr>
                    </a:p>
                  </a:txBody>
                  <a:tcPr marL="54617" marR="54617" marT="76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0" marR="0" algn="ctr">
                        <a:lnSpc>
                          <a:spcPct val="150000"/>
                        </a:lnSpc>
                        <a:spcBef>
                          <a:spcPts val="0"/>
                        </a:spcBef>
                        <a:spcAft>
                          <a:spcPts val="0"/>
                        </a:spcAft>
                      </a:pPr>
                      <a:r>
                        <a:rPr lang="en-US" sz="1000" b="1">
                          <a:solidFill>
                            <a:schemeClr val="bg2"/>
                          </a:solidFill>
                          <a:latin typeface="Times New Roman"/>
                          <a:ea typeface="Arial Unicode MS"/>
                        </a:rPr>
                        <a:t>STATUS</a:t>
                      </a:r>
                      <a:endParaRPr lang="en-US" sz="1000">
                        <a:solidFill>
                          <a:schemeClr val="bg2"/>
                        </a:solidFill>
                        <a:latin typeface="Times New Roman"/>
                        <a:ea typeface="Times New Roman"/>
                      </a:endParaRPr>
                    </a:p>
                  </a:txBody>
                  <a:tcPr marL="54617" marR="54617" marT="76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10000"/>
                  </a:ext>
                </a:extLst>
              </a:tr>
              <a:tr h="632595">
                <a:tc>
                  <a:txBody>
                    <a:bodyPr/>
                    <a:lstStyle/>
                    <a:p>
                      <a:pPr marL="0" marR="0" algn="ctr">
                        <a:lnSpc>
                          <a:spcPct val="150000"/>
                        </a:lnSpc>
                        <a:spcBef>
                          <a:spcPts val="0"/>
                        </a:spcBef>
                        <a:spcAft>
                          <a:spcPts val="0"/>
                        </a:spcAft>
                      </a:pPr>
                      <a:r>
                        <a:rPr lang="en-US" sz="1000" b="1" dirty="0">
                          <a:solidFill>
                            <a:schemeClr val="bg2"/>
                          </a:solidFill>
                          <a:latin typeface="Times New Roman"/>
                          <a:ea typeface="Arial Unicode MS"/>
                        </a:rPr>
                        <a:t>1</a:t>
                      </a:r>
                      <a:endParaRPr lang="en-US" sz="1000" dirty="0">
                        <a:solidFill>
                          <a:schemeClr val="bg2"/>
                        </a:solidFill>
                        <a:latin typeface="Times New Roman"/>
                        <a:ea typeface="Times New Roman"/>
                      </a:endParaRPr>
                    </a:p>
                  </a:txBody>
                  <a:tcPr marL="54617" marR="54617" marT="76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0" marR="0" algn="just">
                        <a:lnSpc>
                          <a:spcPct val="150000"/>
                        </a:lnSpc>
                        <a:spcBef>
                          <a:spcPts val="0"/>
                        </a:spcBef>
                        <a:spcAft>
                          <a:spcPts val="0"/>
                        </a:spcAft>
                      </a:pPr>
                      <a:r>
                        <a:rPr lang="en-US" sz="1000" dirty="0">
                          <a:solidFill>
                            <a:schemeClr val="bg2"/>
                          </a:solidFill>
                          <a:latin typeface="Times New Roman"/>
                          <a:ea typeface="Times New Roman"/>
                        </a:rPr>
                        <a:t>User Registration </a:t>
                      </a:r>
                    </a:p>
                  </a:txBody>
                  <a:tcPr marL="54617" marR="54617" marT="76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50000"/>
                        </a:lnSpc>
                        <a:spcBef>
                          <a:spcPts val="0"/>
                        </a:spcBef>
                        <a:spcAft>
                          <a:spcPts val="0"/>
                        </a:spcAft>
                      </a:pPr>
                      <a:r>
                        <a:rPr lang="en-US" sz="1000">
                          <a:solidFill>
                            <a:schemeClr val="bg2"/>
                          </a:solidFill>
                          <a:latin typeface="Times New Roman"/>
                          <a:ea typeface="Times New Roman"/>
                        </a:rPr>
                        <a:t>Enter all fields </a:t>
                      </a:r>
                    </a:p>
                  </a:txBody>
                  <a:tcPr marL="54617" marR="54617" marT="76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50000"/>
                        </a:lnSpc>
                        <a:spcBef>
                          <a:spcPts val="0"/>
                        </a:spcBef>
                        <a:spcAft>
                          <a:spcPts val="0"/>
                        </a:spcAft>
                      </a:pPr>
                      <a:r>
                        <a:rPr lang="en-US" sz="1000">
                          <a:solidFill>
                            <a:schemeClr val="bg2"/>
                          </a:solidFill>
                          <a:latin typeface="Times New Roman"/>
                          <a:ea typeface="Times New Roman"/>
                        </a:rPr>
                        <a:t>User gets registered </a:t>
                      </a:r>
                    </a:p>
                  </a:txBody>
                  <a:tcPr marL="54617" marR="54617" marT="76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50000"/>
                        </a:lnSpc>
                        <a:spcBef>
                          <a:spcPts val="0"/>
                        </a:spcBef>
                        <a:spcAft>
                          <a:spcPts val="0"/>
                        </a:spcAft>
                      </a:pPr>
                      <a:r>
                        <a:rPr lang="en-US" sz="1000">
                          <a:solidFill>
                            <a:schemeClr val="bg2"/>
                          </a:solidFill>
                          <a:latin typeface="Times New Roman"/>
                          <a:ea typeface="Times New Roman"/>
                        </a:rPr>
                        <a:t>Registration </a:t>
                      </a:r>
                    </a:p>
                    <a:p>
                      <a:pPr marL="0" marR="0" algn="just">
                        <a:lnSpc>
                          <a:spcPct val="150000"/>
                        </a:lnSpc>
                        <a:spcBef>
                          <a:spcPts val="0"/>
                        </a:spcBef>
                        <a:spcAft>
                          <a:spcPts val="0"/>
                        </a:spcAft>
                      </a:pPr>
                      <a:r>
                        <a:rPr lang="en-US" sz="1000">
                          <a:solidFill>
                            <a:schemeClr val="bg2"/>
                          </a:solidFill>
                          <a:latin typeface="Times New Roman"/>
                          <a:ea typeface="Times New Roman"/>
                        </a:rPr>
                        <a:t>is successful </a:t>
                      </a:r>
                    </a:p>
                  </a:txBody>
                  <a:tcPr marL="54617" marR="54617" marT="76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50000"/>
                        </a:lnSpc>
                        <a:spcBef>
                          <a:spcPts val="0"/>
                        </a:spcBef>
                        <a:spcAft>
                          <a:spcPts val="0"/>
                        </a:spcAft>
                      </a:pPr>
                      <a:r>
                        <a:rPr lang="en-US" sz="1000">
                          <a:solidFill>
                            <a:schemeClr val="bg2"/>
                          </a:solidFill>
                          <a:latin typeface="Times New Roman"/>
                          <a:ea typeface="Times New Roman"/>
                        </a:rPr>
                        <a:t>pass</a:t>
                      </a:r>
                    </a:p>
                  </a:txBody>
                  <a:tcPr marL="54617" marR="54617" marT="76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3097">
                <a:tc>
                  <a:txBody>
                    <a:bodyPr/>
                    <a:lstStyle/>
                    <a:p>
                      <a:pPr marL="0" marR="0" algn="ctr">
                        <a:lnSpc>
                          <a:spcPct val="150000"/>
                        </a:lnSpc>
                        <a:spcBef>
                          <a:spcPts val="0"/>
                        </a:spcBef>
                        <a:spcAft>
                          <a:spcPts val="0"/>
                        </a:spcAft>
                      </a:pPr>
                      <a:r>
                        <a:rPr lang="en-US" sz="1000" b="1">
                          <a:solidFill>
                            <a:schemeClr val="bg2"/>
                          </a:solidFill>
                          <a:latin typeface="Times New Roman"/>
                          <a:ea typeface="Arial Unicode MS"/>
                        </a:rPr>
                        <a:t>2</a:t>
                      </a:r>
                      <a:endParaRPr lang="en-US" sz="1000">
                        <a:solidFill>
                          <a:schemeClr val="bg2"/>
                        </a:solidFill>
                        <a:latin typeface="Times New Roman"/>
                        <a:ea typeface="Times New Roman"/>
                      </a:endParaRPr>
                    </a:p>
                  </a:txBody>
                  <a:tcPr marL="54617" marR="54617" marT="76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0" marR="0" algn="just">
                        <a:lnSpc>
                          <a:spcPct val="150000"/>
                        </a:lnSpc>
                        <a:spcBef>
                          <a:spcPts val="0"/>
                        </a:spcBef>
                        <a:spcAft>
                          <a:spcPts val="0"/>
                        </a:spcAft>
                      </a:pPr>
                      <a:r>
                        <a:rPr lang="en-US" sz="1000" dirty="0">
                          <a:solidFill>
                            <a:schemeClr val="bg2"/>
                          </a:solidFill>
                          <a:latin typeface="Times New Roman"/>
                          <a:ea typeface="Times New Roman"/>
                        </a:rPr>
                        <a:t>User Registration </a:t>
                      </a:r>
                    </a:p>
                  </a:txBody>
                  <a:tcPr marL="54617" marR="54617" marT="76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50000"/>
                        </a:lnSpc>
                        <a:spcBef>
                          <a:spcPts val="0"/>
                        </a:spcBef>
                        <a:spcAft>
                          <a:spcPts val="0"/>
                        </a:spcAft>
                      </a:pPr>
                      <a:r>
                        <a:rPr lang="en-US" sz="1000" dirty="0">
                          <a:solidFill>
                            <a:schemeClr val="bg2"/>
                          </a:solidFill>
                          <a:latin typeface="Times New Roman"/>
                          <a:ea typeface="Times New Roman"/>
                        </a:rPr>
                        <a:t> if user miss any field </a:t>
                      </a:r>
                    </a:p>
                  </a:txBody>
                  <a:tcPr marL="54617" marR="54617" marT="76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50000"/>
                        </a:lnSpc>
                        <a:spcBef>
                          <a:spcPts val="0"/>
                        </a:spcBef>
                        <a:spcAft>
                          <a:spcPts val="0"/>
                        </a:spcAft>
                      </a:pPr>
                      <a:r>
                        <a:rPr lang="en-US" sz="1000">
                          <a:solidFill>
                            <a:schemeClr val="bg2"/>
                          </a:solidFill>
                          <a:latin typeface="Times New Roman"/>
                          <a:ea typeface="Times New Roman"/>
                        </a:rPr>
                        <a:t>User not registered </a:t>
                      </a:r>
                    </a:p>
                  </a:txBody>
                  <a:tcPr marL="54617" marR="54617" marT="76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50000"/>
                        </a:lnSpc>
                        <a:spcBef>
                          <a:spcPts val="0"/>
                        </a:spcBef>
                        <a:spcAft>
                          <a:spcPts val="0"/>
                        </a:spcAft>
                      </a:pPr>
                      <a:r>
                        <a:rPr lang="en-US" sz="1000">
                          <a:solidFill>
                            <a:schemeClr val="bg2"/>
                          </a:solidFill>
                          <a:latin typeface="Times New Roman"/>
                          <a:ea typeface="Times New Roman"/>
                        </a:rPr>
                        <a:t>Registration is</a:t>
                      </a:r>
                    </a:p>
                    <a:p>
                      <a:pPr marL="0" marR="0" algn="just">
                        <a:lnSpc>
                          <a:spcPct val="150000"/>
                        </a:lnSpc>
                        <a:spcBef>
                          <a:spcPts val="0"/>
                        </a:spcBef>
                        <a:spcAft>
                          <a:spcPts val="0"/>
                        </a:spcAft>
                      </a:pPr>
                      <a:r>
                        <a:rPr lang="en-US" sz="1000">
                          <a:solidFill>
                            <a:schemeClr val="bg2"/>
                          </a:solidFill>
                          <a:latin typeface="Times New Roman"/>
                          <a:ea typeface="Times New Roman"/>
                        </a:rPr>
                        <a:t>un successful </a:t>
                      </a:r>
                    </a:p>
                  </a:txBody>
                  <a:tcPr marL="54617" marR="54617" marT="76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50000"/>
                        </a:lnSpc>
                        <a:spcBef>
                          <a:spcPts val="0"/>
                        </a:spcBef>
                        <a:spcAft>
                          <a:spcPts val="0"/>
                        </a:spcAft>
                      </a:pPr>
                      <a:r>
                        <a:rPr lang="en-US" sz="1000">
                          <a:solidFill>
                            <a:schemeClr val="bg2"/>
                          </a:solidFill>
                          <a:latin typeface="Times New Roman"/>
                          <a:ea typeface="Times New Roman"/>
                        </a:rPr>
                        <a:t>fail</a:t>
                      </a:r>
                    </a:p>
                  </a:txBody>
                  <a:tcPr marL="54617" marR="54617" marT="76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80182">
                <a:tc>
                  <a:txBody>
                    <a:bodyPr/>
                    <a:lstStyle/>
                    <a:p>
                      <a:pPr marL="0" marR="0" algn="ctr">
                        <a:lnSpc>
                          <a:spcPct val="150000"/>
                        </a:lnSpc>
                        <a:spcBef>
                          <a:spcPts val="0"/>
                        </a:spcBef>
                        <a:spcAft>
                          <a:spcPts val="0"/>
                        </a:spcAft>
                      </a:pPr>
                      <a:r>
                        <a:rPr lang="en-US" sz="1000" b="1">
                          <a:solidFill>
                            <a:schemeClr val="bg2"/>
                          </a:solidFill>
                          <a:latin typeface="Times New Roman"/>
                          <a:ea typeface="Arial Unicode MS"/>
                        </a:rPr>
                        <a:t>3</a:t>
                      </a:r>
                      <a:endParaRPr lang="en-US" sz="1000">
                        <a:solidFill>
                          <a:schemeClr val="bg2"/>
                        </a:solidFill>
                        <a:latin typeface="Times New Roman"/>
                        <a:ea typeface="Times New Roman"/>
                      </a:endParaRPr>
                    </a:p>
                  </a:txBody>
                  <a:tcPr marL="54617" marR="54617" marT="76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0" marR="0" algn="just">
                        <a:lnSpc>
                          <a:spcPct val="150000"/>
                        </a:lnSpc>
                        <a:spcBef>
                          <a:spcPts val="0"/>
                        </a:spcBef>
                        <a:spcAft>
                          <a:spcPts val="0"/>
                        </a:spcAft>
                      </a:pPr>
                      <a:r>
                        <a:rPr lang="en-US" sz="1000" dirty="0">
                          <a:solidFill>
                            <a:schemeClr val="bg2"/>
                          </a:solidFill>
                          <a:latin typeface="Times New Roman"/>
                          <a:ea typeface="Times New Roman"/>
                        </a:rPr>
                        <a:t>Admin Login </a:t>
                      </a:r>
                    </a:p>
                  </a:txBody>
                  <a:tcPr marL="54617" marR="54617" marT="76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50000"/>
                        </a:lnSpc>
                        <a:spcBef>
                          <a:spcPts val="0"/>
                        </a:spcBef>
                        <a:spcAft>
                          <a:spcPts val="0"/>
                        </a:spcAft>
                      </a:pPr>
                      <a:r>
                        <a:rPr lang="en-US" sz="1000" dirty="0">
                          <a:solidFill>
                            <a:schemeClr val="bg2"/>
                          </a:solidFill>
                          <a:latin typeface="Times New Roman"/>
                          <a:ea typeface="Times New Roman"/>
                        </a:rPr>
                        <a:t>Give the user name and password</a:t>
                      </a:r>
                    </a:p>
                  </a:txBody>
                  <a:tcPr marL="54617" marR="54617" marT="76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50000"/>
                        </a:lnSpc>
                        <a:spcBef>
                          <a:spcPts val="0"/>
                        </a:spcBef>
                        <a:spcAft>
                          <a:spcPts val="0"/>
                        </a:spcAft>
                      </a:pPr>
                      <a:r>
                        <a:rPr lang="en-US" sz="1000">
                          <a:solidFill>
                            <a:schemeClr val="bg2"/>
                          </a:solidFill>
                          <a:latin typeface="Times New Roman"/>
                          <a:ea typeface="Times New Roman"/>
                        </a:rPr>
                        <a:t>Admin home page should </a:t>
                      </a:r>
                    </a:p>
                    <a:p>
                      <a:pPr marL="0" marR="0" algn="just">
                        <a:lnSpc>
                          <a:spcPct val="150000"/>
                        </a:lnSpc>
                        <a:spcBef>
                          <a:spcPts val="0"/>
                        </a:spcBef>
                        <a:spcAft>
                          <a:spcPts val="0"/>
                        </a:spcAft>
                      </a:pPr>
                      <a:r>
                        <a:rPr lang="en-US" sz="1000">
                          <a:solidFill>
                            <a:schemeClr val="bg2"/>
                          </a:solidFill>
                          <a:latin typeface="Times New Roman"/>
                          <a:ea typeface="Times New Roman"/>
                        </a:rPr>
                        <a:t>be opened </a:t>
                      </a:r>
                    </a:p>
                  </a:txBody>
                  <a:tcPr marL="54617" marR="54617" marT="76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50000"/>
                        </a:lnSpc>
                        <a:spcBef>
                          <a:spcPts val="0"/>
                        </a:spcBef>
                        <a:spcAft>
                          <a:spcPts val="0"/>
                        </a:spcAft>
                      </a:pPr>
                      <a:r>
                        <a:rPr lang="en-US" sz="1000" dirty="0">
                          <a:solidFill>
                            <a:schemeClr val="bg2"/>
                          </a:solidFill>
                          <a:latin typeface="Times New Roman"/>
                          <a:ea typeface="Times New Roman"/>
                        </a:rPr>
                        <a:t>Admin home Page has been opened </a:t>
                      </a:r>
                    </a:p>
                  </a:txBody>
                  <a:tcPr marL="54617" marR="54617" marT="76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50000"/>
                        </a:lnSpc>
                        <a:spcBef>
                          <a:spcPts val="0"/>
                        </a:spcBef>
                        <a:spcAft>
                          <a:spcPts val="0"/>
                        </a:spcAft>
                      </a:pPr>
                      <a:r>
                        <a:rPr lang="en-US" sz="1000">
                          <a:solidFill>
                            <a:schemeClr val="bg2"/>
                          </a:solidFill>
                          <a:latin typeface="Times New Roman"/>
                          <a:ea typeface="Times New Roman"/>
                        </a:rPr>
                        <a:t>Pass</a:t>
                      </a:r>
                    </a:p>
                  </a:txBody>
                  <a:tcPr marL="54617" marR="54617" marT="76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187231">
                <a:tc>
                  <a:txBody>
                    <a:bodyPr/>
                    <a:lstStyle/>
                    <a:p>
                      <a:pPr marL="0" marR="0" algn="ctr">
                        <a:lnSpc>
                          <a:spcPct val="150000"/>
                        </a:lnSpc>
                        <a:spcBef>
                          <a:spcPts val="0"/>
                        </a:spcBef>
                        <a:spcAft>
                          <a:spcPts val="0"/>
                        </a:spcAft>
                      </a:pPr>
                      <a:r>
                        <a:rPr lang="en-US" sz="900" b="1">
                          <a:solidFill>
                            <a:schemeClr val="bg2"/>
                          </a:solidFill>
                          <a:latin typeface="Times New Roman"/>
                          <a:ea typeface="Arial Unicode MS"/>
                        </a:rPr>
                        <a:t>4</a:t>
                      </a:r>
                      <a:endParaRPr lang="en-US" sz="1000">
                        <a:solidFill>
                          <a:schemeClr val="bg2"/>
                        </a:solidFill>
                        <a:latin typeface="Times New Roman"/>
                        <a:ea typeface="Times New Roman"/>
                      </a:endParaRPr>
                    </a:p>
                  </a:txBody>
                  <a:tcPr marL="54617" marR="54617" marT="76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0" marR="0" algn="just">
                        <a:lnSpc>
                          <a:spcPct val="150000"/>
                        </a:lnSpc>
                        <a:spcBef>
                          <a:spcPts val="0"/>
                        </a:spcBef>
                        <a:spcAft>
                          <a:spcPts val="0"/>
                        </a:spcAft>
                      </a:pPr>
                      <a:r>
                        <a:rPr lang="en-US" sz="900" dirty="0">
                          <a:solidFill>
                            <a:schemeClr val="bg2"/>
                          </a:solidFill>
                          <a:latin typeface="Times New Roman"/>
                          <a:ea typeface="Times New Roman"/>
                        </a:rPr>
                        <a:t>Upload url  Dataset</a:t>
                      </a:r>
                      <a:endParaRPr lang="en-US" sz="1000" dirty="0">
                        <a:solidFill>
                          <a:schemeClr val="bg2"/>
                        </a:solidFill>
                        <a:latin typeface="Times New Roman"/>
                        <a:ea typeface="Times New Roman"/>
                      </a:endParaRPr>
                    </a:p>
                  </a:txBody>
                  <a:tcPr marL="54617" marR="54617" marT="76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50000"/>
                        </a:lnSpc>
                        <a:spcBef>
                          <a:spcPts val="0"/>
                        </a:spcBef>
                        <a:spcAft>
                          <a:spcPts val="0"/>
                        </a:spcAft>
                      </a:pPr>
                      <a:r>
                        <a:rPr lang="en-US" sz="900" dirty="0">
                          <a:solidFill>
                            <a:schemeClr val="bg2"/>
                          </a:solidFill>
                          <a:latin typeface="Times New Roman"/>
                          <a:ea typeface="Times New Roman"/>
                        </a:rPr>
                        <a:t>Test whether the url  Dataset is uploaded or not into the system</a:t>
                      </a:r>
                      <a:endParaRPr lang="en-US" sz="1000" dirty="0">
                        <a:solidFill>
                          <a:schemeClr val="bg2"/>
                        </a:solidFill>
                        <a:latin typeface="Times New Roman"/>
                        <a:ea typeface="Times New Roman"/>
                      </a:endParaRPr>
                    </a:p>
                  </a:txBody>
                  <a:tcPr marL="54617" marR="54617" marT="76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50000"/>
                        </a:lnSpc>
                        <a:spcBef>
                          <a:spcPts val="0"/>
                        </a:spcBef>
                        <a:spcAft>
                          <a:spcPts val="0"/>
                        </a:spcAft>
                      </a:pPr>
                      <a:r>
                        <a:rPr lang="en-US" sz="900" dirty="0">
                          <a:solidFill>
                            <a:schemeClr val="bg2"/>
                          </a:solidFill>
                          <a:latin typeface="Times New Roman"/>
                          <a:ea typeface="Times New Roman"/>
                        </a:rPr>
                        <a:t>If url  Dataset is not uploaded</a:t>
                      </a:r>
                      <a:endParaRPr lang="en-US" sz="1000" dirty="0">
                        <a:solidFill>
                          <a:schemeClr val="bg2"/>
                        </a:solidFill>
                        <a:latin typeface="Times New Roman"/>
                        <a:ea typeface="Times New Roman"/>
                      </a:endParaRPr>
                    </a:p>
                  </a:txBody>
                  <a:tcPr marL="54617" marR="54617" marT="76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50000"/>
                        </a:lnSpc>
                        <a:spcBef>
                          <a:spcPts val="0"/>
                        </a:spcBef>
                        <a:spcAft>
                          <a:spcPts val="0"/>
                        </a:spcAft>
                      </a:pPr>
                      <a:r>
                        <a:rPr lang="en-US" sz="900" dirty="0">
                          <a:solidFill>
                            <a:schemeClr val="bg2"/>
                          </a:solidFill>
                          <a:latin typeface="Times New Roman"/>
                          <a:ea typeface="Times New Roman"/>
                        </a:rPr>
                        <a:t>We cannot do further operations </a:t>
                      </a:r>
                      <a:endParaRPr lang="en-US" sz="1000" dirty="0">
                        <a:solidFill>
                          <a:schemeClr val="bg2"/>
                        </a:solidFill>
                        <a:latin typeface="Times New Roman"/>
                        <a:ea typeface="Times New Roman"/>
                      </a:endParaRPr>
                    </a:p>
                  </a:txBody>
                  <a:tcPr marL="54617" marR="54617" marT="76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50000"/>
                        </a:lnSpc>
                        <a:spcBef>
                          <a:spcPts val="0"/>
                        </a:spcBef>
                        <a:spcAft>
                          <a:spcPts val="0"/>
                        </a:spcAft>
                      </a:pPr>
                      <a:r>
                        <a:rPr lang="en-US" sz="900" dirty="0">
                          <a:solidFill>
                            <a:schemeClr val="bg2"/>
                          </a:solidFill>
                          <a:latin typeface="Times New Roman"/>
                          <a:ea typeface="Times New Roman"/>
                        </a:rPr>
                        <a:t>Pass</a:t>
                      </a:r>
                      <a:endParaRPr lang="en-US" sz="1000" dirty="0">
                        <a:solidFill>
                          <a:schemeClr val="bg2"/>
                        </a:solidFill>
                        <a:latin typeface="Times New Roman"/>
                        <a:ea typeface="Times New Roman"/>
                      </a:endParaRPr>
                    </a:p>
                  </a:txBody>
                  <a:tcPr marL="54617" marR="54617" marT="76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951570">
                <a:tc>
                  <a:txBody>
                    <a:bodyPr/>
                    <a:lstStyle/>
                    <a:p>
                      <a:pPr marL="0" marR="0" algn="ctr">
                        <a:lnSpc>
                          <a:spcPct val="150000"/>
                        </a:lnSpc>
                        <a:spcBef>
                          <a:spcPts val="0"/>
                        </a:spcBef>
                        <a:spcAft>
                          <a:spcPts val="0"/>
                        </a:spcAft>
                      </a:pPr>
                      <a:r>
                        <a:rPr lang="en-US" sz="900" b="1" dirty="0">
                          <a:solidFill>
                            <a:schemeClr val="bg2"/>
                          </a:solidFill>
                          <a:latin typeface="Times New Roman"/>
                          <a:ea typeface="Arial Unicode MS"/>
                        </a:rPr>
                        <a:t>5</a:t>
                      </a:r>
                      <a:endParaRPr lang="en-US" sz="1000" dirty="0">
                        <a:solidFill>
                          <a:schemeClr val="bg2"/>
                        </a:solidFill>
                        <a:latin typeface="Times New Roman"/>
                        <a:ea typeface="Times New Roman"/>
                      </a:endParaRPr>
                    </a:p>
                  </a:txBody>
                  <a:tcPr marL="54617" marR="54617" marT="76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0" marR="0" algn="just">
                        <a:lnSpc>
                          <a:spcPct val="150000"/>
                        </a:lnSpc>
                        <a:spcBef>
                          <a:spcPts val="0"/>
                        </a:spcBef>
                        <a:spcAft>
                          <a:spcPts val="0"/>
                        </a:spcAft>
                      </a:pPr>
                      <a:r>
                        <a:rPr lang="en-US" sz="900" dirty="0">
                          <a:solidFill>
                            <a:schemeClr val="bg2"/>
                          </a:solidFill>
                          <a:latin typeface="Times New Roman"/>
                          <a:ea typeface="Times New Roman"/>
                        </a:rPr>
                        <a:t>Preprocess Dataset</a:t>
                      </a:r>
                      <a:endParaRPr lang="en-US" sz="1000" dirty="0">
                        <a:solidFill>
                          <a:schemeClr val="bg2"/>
                        </a:solidFill>
                        <a:latin typeface="Times New Roman"/>
                        <a:ea typeface="Times New Roman"/>
                      </a:endParaRPr>
                    </a:p>
                  </a:txBody>
                  <a:tcPr marL="54617" marR="54617" marT="76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50000"/>
                        </a:lnSpc>
                        <a:spcBef>
                          <a:spcPts val="0"/>
                        </a:spcBef>
                        <a:spcAft>
                          <a:spcPts val="0"/>
                        </a:spcAft>
                      </a:pPr>
                      <a:r>
                        <a:rPr lang="en-US" sz="900" dirty="0">
                          <a:solidFill>
                            <a:schemeClr val="bg2"/>
                          </a:solidFill>
                          <a:latin typeface="Times New Roman"/>
                          <a:ea typeface="Times New Roman"/>
                        </a:rPr>
                        <a:t>Verify the Dataset is Per – processed or not</a:t>
                      </a:r>
                      <a:endParaRPr lang="en-US" sz="1000" dirty="0">
                        <a:solidFill>
                          <a:schemeClr val="bg2"/>
                        </a:solidFill>
                        <a:latin typeface="Times New Roman"/>
                        <a:ea typeface="Times New Roman"/>
                      </a:endParaRPr>
                    </a:p>
                  </a:txBody>
                  <a:tcPr marL="54617" marR="54617" marT="76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50000"/>
                        </a:lnSpc>
                        <a:spcBef>
                          <a:spcPts val="0"/>
                        </a:spcBef>
                        <a:spcAft>
                          <a:spcPts val="0"/>
                        </a:spcAft>
                      </a:pPr>
                      <a:r>
                        <a:rPr lang="en-US" sz="900" dirty="0">
                          <a:solidFill>
                            <a:schemeClr val="bg2"/>
                          </a:solidFill>
                          <a:latin typeface="Times New Roman"/>
                          <a:ea typeface="Times New Roman"/>
                        </a:rPr>
                        <a:t>Without loading the dataset</a:t>
                      </a:r>
                      <a:endParaRPr lang="en-US" sz="1000" dirty="0">
                        <a:solidFill>
                          <a:schemeClr val="bg2"/>
                        </a:solidFill>
                        <a:latin typeface="Times New Roman"/>
                        <a:ea typeface="Times New Roman"/>
                      </a:endParaRPr>
                    </a:p>
                  </a:txBody>
                  <a:tcPr marL="54617" marR="54617" marT="76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50000"/>
                        </a:lnSpc>
                        <a:spcBef>
                          <a:spcPts val="0"/>
                        </a:spcBef>
                        <a:spcAft>
                          <a:spcPts val="0"/>
                        </a:spcAft>
                      </a:pPr>
                      <a:r>
                        <a:rPr lang="en-US" sz="900" dirty="0">
                          <a:solidFill>
                            <a:schemeClr val="bg2"/>
                          </a:solidFill>
                          <a:latin typeface="Times New Roman"/>
                          <a:ea typeface="Times New Roman"/>
                        </a:rPr>
                        <a:t>We cannot Per-processing Dataset</a:t>
                      </a:r>
                      <a:endParaRPr lang="en-US" sz="1000" dirty="0">
                        <a:solidFill>
                          <a:schemeClr val="bg2"/>
                        </a:solidFill>
                        <a:latin typeface="Times New Roman"/>
                        <a:ea typeface="Times New Roman"/>
                      </a:endParaRPr>
                    </a:p>
                  </a:txBody>
                  <a:tcPr marL="54617" marR="54617" marT="76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50000"/>
                        </a:lnSpc>
                        <a:spcBef>
                          <a:spcPts val="0"/>
                        </a:spcBef>
                        <a:spcAft>
                          <a:spcPts val="0"/>
                        </a:spcAft>
                      </a:pPr>
                      <a:r>
                        <a:rPr lang="en-US" sz="900" dirty="0">
                          <a:solidFill>
                            <a:schemeClr val="bg2"/>
                          </a:solidFill>
                          <a:latin typeface="Times New Roman"/>
                          <a:ea typeface="Times New Roman"/>
                        </a:rPr>
                        <a:t>Pass</a:t>
                      </a:r>
                      <a:endParaRPr lang="en-US" sz="1000" dirty="0">
                        <a:solidFill>
                          <a:schemeClr val="bg2"/>
                        </a:solidFill>
                        <a:latin typeface="Times New Roman"/>
                        <a:ea typeface="Times New Roman"/>
                      </a:endParaRPr>
                    </a:p>
                  </a:txBody>
                  <a:tcPr marL="54617" marR="54617" marT="76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715908">
                <a:tc>
                  <a:txBody>
                    <a:bodyPr/>
                    <a:lstStyle/>
                    <a:p>
                      <a:pPr marL="0" marR="0" algn="ctr">
                        <a:lnSpc>
                          <a:spcPct val="150000"/>
                        </a:lnSpc>
                        <a:spcBef>
                          <a:spcPts val="0"/>
                        </a:spcBef>
                        <a:spcAft>
                          <a:spcPts val="0"/>
                        </a:spcAft>
                      </a:pPr>
                      <a:r>
                        <a:rPr lang="en-US" sz="900" b="1" dirty="0">
                          <a:solidFill>
                            <a:schemeClr val="bg2"/>
                          </a:solidFill>
                          <a:latin typeface="Times New Roman"/>
                          <a:ea typeface="Arial Unicode MS"/>
                        </a:rPr>
                        <a:t>6</a:t>
                      </a:r>
                      <a:endParaRPr lang="en-US" sz="1000" dirty="0">
                        <a:solidFill>
                          <a:schemeClr val="bg2"/>
                        </a:solidFill>
                        <a:latin typeface="Times New Roman"/>
                        <a:ea typeface="Times New Roman"/>
                      </a:endParaRPr>
                    </a:p>
                  </a:txBody>
                  <a:tcPr marL="54617" marR="54617" marT="76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0" marR="0" algn="just">
                        <a:lnSpc>
                          <a:spcPct val="150000"/>
                        </a:lnSpc>
                        <a:spcBef>
                          <a:spcPts val="0"/>
                        </a:spcBef>
                        <a:spcAft>
                          <a:spcPts val="0"/>
                        </a:spcAft>
                      </a:pPr>
                      <a:r>
                        <a:rPr lang="en-US" sz="900" dirty="0">
                          <a:solidFill>
                            <a:schemeClr val="bg2"/>
                          </a:solidFill>
                          <a:latin typeface="Times New Roman"/>
                          <a:ea typeface="Times New Roman"/>
                        </a:rPr>
                        <a:t>Run SVM algorithm</a:t>
                      </a:r>
                      <a:endParaRPr lang="en-US" sz="1000" dirty="0">
                        <a:solidFill>
                          <a:schemeClr val="bg2"/>
                        </a:solidFill>
                        <a:latin typeface="Times New Roman"/>
                        <a:ea typeface="Times New Roman"/>
                      </a:endParaRPr>
                    </a:p>
                  </a:txBody>
                  <a:tcPr marL="54617" marR="54617" marT="76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50000"/>
                        </a:lnSpc>
                        <a:spcBef>
                          <a:spcPts val="0"/>
                        </a:spcBef>
                        <a:spcAft>
                          <a:spcPts val="0"/>
                        </a:spcAft>
                      </a:pPr>
                      <a:r>
                        <a:rPr lang="en-US" sz="900" dirty="0">
                          <a:solidFill>
                            <a:schemeClr val="bg2"/>
                          </a:solidFill>
                          <a:latin typeface="Times New Roman"/>
                          <a:ea typeface="Times New Roman"/>
                        </a:rPr>
                        <a:t>Verify the SVM algorithm will run or not</a:t>
                      </a:r>
                      <a:endParaRPr lang="en-US" sz="1000" dirty="0">
                        <a:solidFill>
                          <a:schemeClr val="bg2"/>
                        </a:solidFill>
                        <a:latin typeface="Times New Roman"/>
                        <a:ea typeface="Times New Roman"/>
                      </a:endParaRPr>
                    </a:p>
                  </a:txBody>
                  <a:tcPr marL="54617" marR="54617" marT="76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50000"/>
                        </a:lnSpc>
                        <a:spcBef>
                          <a:spcPts val="0"/>
                        </a:spcBef>
                        <a:spcAft>
                          <a:spcPts val="0"/>
                        </a:spcAft>
                      </a:pPr>
                      <a:r>
                        <a:rPr lang="en-US" sz="900" dirty="0">
                          <a:solidFill>
                            <a:schemeClr val="bg2"/>
                          </a:solidFill>
                          <a:latin typeface="Times New Roman"/>
                          <a:ea typeface="Times New Roman"/>
                        </a:rPr>
                        <a:t>Without training model</a:t>
                      </a:r>
                      <a:endParaRPr lang="en-US" sz="1000" dirty="0">
                        <a:solidFill>
                          <a:schemeClr val="bg2"/>
                        </a:solidFill>
                        <a:latin typeface="Times New Roman"/>
                        <a:ea typeface="Times New Roman"/>
                      </a:endParaRPr>
                    </a:p>
                  </a:txBody>
                  <a:tcPr marL="54617" marR="54617" marT="76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50000"/>
                        </a:lnSpc>
                        <a:spcBef>
                          <a:spcPts val="0"/>
                        </a:spcBef>
                        <a:spcAft>
                          <a:spcPts val="0"/>
                        </a:spcAft>
                      </a:pPr>
                      <a:r>
                        <a:rPr lang="en-US" sz="900" dirty="0">
                          <a:solidFill>
                            <a:schemeClr val="bg2"/>
                          </a:solidFill>
                          <a:latin typeface="Times New Roman"/>
                          <a:ea typeface="Times New Roman"/>
                        </a:rPr>
                        <a:t>We cannot run SVM algorithm</a:t>
                      </a:r>
                      <a:endParaRPr lang="en-US" sz="1000" dirty="0">
                        <a:solidFill>
                          <a:schemeClr val="bg2"/>
                        </a:solidFill>
                        <a:latin typeface="Times New Roman"/>
                        <a:ea typeface="Times New Roman"/>
                      </a:endParaRPr>
                    </a:p>
                  </a:txBody>
                  <a:tcPr marL="54617" marR="54617" marT="76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50000"/>
                        </a:lnSpc>
                        <a:spcBef>
                          <a:spcPts val="0"/>
                        </a:spcBef>
                        <a:spcAft>
                          <a:spcPts val="0"/>
                        </a:spcAft>
                      </a:pPr>
                      <a:r>
                        <a:rPr lang="en-US" sz="900" dirty="0">
                          <a:solidFill>
                            <a:schemeClr val="bg2"/>
                          </a:solidFill>
                          <a:latin typeface="Times New Roman"/>
                          <a:ea typeface="Times New Roman"/>
                        </a:rPr>
                        <a:t>Pass</a:t>
                      </a:r>
                      <a:endParaRPr lang="en-US" sz="1000" dirty="0">
                        <a:solidFill>
                          <a:schemeClr val="bg2"/>
                        </a:solidFill>
                        <a:latin typeface="Times New Roman"/>
                        <a:ea typeface="Times New Roman"/>
                      </a:endParaRPr>
                    </a:p>
                  </a:txBody>
                  <a:tcPr marL="54617" marR="54617" marT="768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9119" y="31563"/>
            <a:ext cx="10353762" cy="970450"/>
          </a:xfrm>
        </p:spPr>
        <p:txBody>
          <a:bodyPr/>
          <a:lstStyle/>
          <a:p>
            <a:pPr algn="ctr"/>
            <a:r>
              <a:rPr lang="en-US" dirty="0">
                <a:solidFill>
                  <a:srgbClr val="FFFF00"/>
                </a:solidFill>
              </a:rPr>
              <a:t>Output Screens</a:t>
            </a:r>
          </a:p>
        </p:txBody>
      </p:sp>
      <p:pic>
        <p:nvPicPr>
          <p:cNvPr id="5" name="Picture 4">
            <a:extLst>
              <a:ext uri="{FF2B5EF4-FFF2-40B4-BE49-F238E27FC236}">
                <a16:creationId xmlns:a16="http://schemas.microsoft.com/office/drawing/2014/main" id="{61229105-9FE3-56B4-2B4C-0868575611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9119" y="894080"/>
            <a:ext cx="10353762" cy="576072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B15ED6C-8C11-B8E2-2C76-3B3BC24698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263120"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A5B6819-1447-D811-98AC-AAA1A8FE236C}"/>
              </a:ext>
            </a:extLst>
          </p:cNvPr>
          <p:cNvPicPr>
            <a:picLocks noChangeAspect="1"/>
          </p:cNvPicPr>
          <p:nvPr/>
        </p:nvPicPr>
        <p:blipFill>
          <a:blip r:embed="rId2"/>
          <a:stretch>
            <a:fillRect/>
          </a:stretch>
        </p:blipFill>
        <p:spPr>
          <a:xfrm>
            <a:off x="0" y="0"/>
            <a:ext cx="12192000" cy="6944810"/>
          </a:xfrm>
          <a:prstGeom prst="rect">
            <a:avLst/>
          </a:prstGeom>
        </p:spPr>
      </p:pic>
    </p:spTree>
    <p:extLst>
      <p:ext uri="{BB962C8B-B14F-4D97-AF65-F5344CB8AC3E}">
        <p14:creationId xmlns:p14="http://schemas.microsoft.com/office/powerpoint/2010/main" val="1356392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40EDEF-40F3-FB13-E7F1-F7C8C2265E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979534"/>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9119" y="248749"/>
            <a:ext cx="10353762" cy="970450"/>
          </a:xfrm>
        </p:spPr>
        <p:txBody>
          <a:bodyPr/>
          <a:lstStyle/>
          <a:p>
            <a:pPr algn="ctr"/>
            <a:r>
              <a:rPr lang="en-US" dirty="0">
                <a:solidFill>
                  <a:srgbClr val="FFFF00"/>
                </a:solidFill>
              </a:rPr>
              <a:t>Conclusion</a:t>
            </a:r>
          </a:p>
        </p:txBody>
      </p:sp>
      <p:sp>
        <p:nvSpPr>
          <p:cNvPr id="3" name="Content Placeholder 2"/>
          <p:cNvSpPr>
            <a:spLocks noGrp="1"/>
          </p:cNvSpPr>
          <p:nvPr>
            <p:ph idx="1"/>
          </p:nvPr>
        </p:nvSpPr>
        <p:spPr>
          <a:xfrm>
            <a:off x="91851" y="1587766"/>
            <a:ext cx="12100149" cy="4427211"/>
          </a:xfrm>
        </p:spPr>
        <p:txBody>
          <a:bodyPr/>
          <a:lstStyle/>
          <a:p>
            <a:pPr algn="just">
              <a:lnSpc>
                <a:spcPct val="150000"/>
              </a:lnSpc>
            </a:pPr>
            <a:r>
              <a:rPr lang="en-US" sz="2800" dirty="0">
                <a:solidFill>
                  <a:schemeClr val="tx1"/>
                </a:solidFill>
                <a:effectLst/>
                <a:latin typeface="Times New Roman" panose="02020603050405020304" pitchFamily="18" charset="0"/>
                <a:cs typeface="Times New Roman" panose="02020603050405020304" pitchFamily="18" charset="0"/>
              </a:rPr>
              <a:t>In conclusion, developing and implementing machine learning techniques for malicious URL detection such as phishing URLs show promising results in enhancing cybersecurity measures. </a:t>
            </a:r>
          </a:p>
          <a:p>
            <a:pPr algn="just">
              <a:lnSpc>
                <a:spcPct val="150000"/>
              </a:lnSpc>
            </a:pPr>
            <a:r>
              <a:rPr lang="en-US" sz="2800" dirty="0">
                <a:solidFill>
                  <a:schemeClr val="tx1"/>
                </a:solidFill>
                <a:effectLst/>
                <a:latin typeface="Times New Roman" panose="02020603050405020304" pitchFamily="18" charset="0"/>
                <a:cs typeface="Times New Roman" panose="02020603050405020304" pitchFamily="18" charset="0"/>
              </a:rPr>
              <a:t>Through the use of supervised learning algorithm such as support vector machines, along with feature engineering and selection methods, it is possible to classify URLs as benign or malicious effectively.</a:t>
            </a:r>
          </a:p>
          <a:p>
            <a:endParaRPr lang="en-US"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rgbClr val="FFFF00"/>
                </a:solidFill>
              </a:rPr>
              <a:t>Future Scope</a:t>
            </a:r>
          </a:p>
        </p:txBody>
      </p:sp>
      <p:sp>
        <p:nvSpPr>
          <p:cNvPr id="3" name="Content Placeholder 2"/>
          <p:cNvSpPr>
            <a:spLocks noGrp="1"/>
          </p:cNvSpPr>
          <p:nvPr>
            <p:ph idx="1"/>
          </p:nvPr>
        </p:nvSpPr>
        <p:spPr>
          <a:xfrm>
            <a:off x="636608" y="1871571"/>
            <a:ext cx="11181144" cy="4181987"/>
          </a:xfrm>
        </p:spPr>
        <p:txBody>
          <a:bodyPr>
            <a:normAutofit/>
          </a:bodyPr>
          <a:lstStyle/>
          <a:p>
            <a:pPr algn="just">
              <a:lnSpc>
                <a:spcPct val="150000"/>
              </a:lnSpc>
            </a:pPr>
            <a:r>
              <a:rPr lang="en-US" sz="3000" dirty="0">
                <a:solidFill>
                  <a:schemeClr val="tx1"/>
                </a:solidFill>
                <a:effectLst/>
                <a:latin typeface="Times New Roman" panose="02020603050405020304" pitchFamily="18" charset="0"/>
                <a:cs typeface="Times New Roman" panose="02020603050405020304" pitchFamily="18" charset="0"/>
              </a:rPr>
              <a:t>Developing more advanced deep learning architectures tailored for URL classification tasks.</a:t>
            </a:r>
          </a:p>
          <a:p>
            <a:pPr algn="just">
              <a:lnSpc>
                <a:spcPct val="150000"/>
              </a:lnSpc>
            </a:pPr>
            <a:r>
              <a:rPr lang="en-US" sz="3000" dirty="0">
                <a:solidFill>
                  <a:schemeClr val="tx1"/>
                </a:solidFill>
                <a:effectLst/>
                <a:latin typeface="Times New Roman" panose="02020603050405020304" pitchFamily="18" charset="0"/>
                <a:cs typeface="Times New Roman" panose="02020603050405020304" pitchFamily="18" charset="0"/>
              </a:rPr>
              <a:t>Improving model robustness against sophisticated adversarial attacks.</a:t>
            </a:r>
          </a:p>
          <a:p>
            <a:pPr algn="just">
              <a:lnSpc>
                <a:spcPct val="150000"/>
              </a:lnSpc>
            </a:pPr>
            <a:r>
              <a:rPr lang="en-US" sz="3000" dirty="0">
                <a:solidFill>
                  <a:schemeClr val="tx1"/>
                </a:solidFill>
                <a:effectLst/>
                <a:latin typeface="Times New Roman" panose="02020603050405020304" pitchFamily="18" charset="0"/>
                <a:cs typeface="Times New Roman" panose="02020603050405020304" pitchFamily="18" charset="0"/>
              </a:rPr>
              <a:t>Developing algorithms for scalable, real-time detection of malicious URLs to respond promptly to threats.</a:t>
            </a:r>
          </a:p>
          <a:p>
            <a:pPr algn="just"/>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6BDF060-14D3-7079-611B-AD59039178AB}"/>
              </a:ext>
            </a:extLst>
          </p:cNvPr>
          <p:cNvSpPr txBox="1"/>
          <p:nvPr/>
        </p:nvSpPr>
        <p:spPr>
          <a:xfrm>
            <a:off x="2531806" y="2402463"/>
            <a:ext cx="7827536" cy="1323439"/>
          </a:xfrm>
          <a:prstGeom prst="rect">
            <a:avLst/>
          </a:prstGeom>
          <a:noFill/>
          <a:ln>
            <a:noFill/>
          </a:ln>
          <a:effectLst>
            <a:glow rad="127000">
              <a:schemeClr val="tx1"/>
            </a:glow>
          </a:effectLst>
        </p:spPr>
        <p:txBody>
          <a:bodyPr wrap="square">
            <a:spAutoFit/>
          </a:bodyPr>
          <a:lstStyle/>
          <a:p>
            <a:pPr algn="ctr">
              <a:buNone/>
            </a:pPr>
            <a:r>
              <a:rPr lang="en-US" sz="8000" b="1" dirty="0">
                <a:ln w="12700">
                  <a:solidFill>
                    <a:schemeClr val="bg1"/>
                  </a:solidFill>
                  <a:prstDash val="solid"/>
                </a:ln>
                <a:solidFill>
                  <a:schemeClr val="bg1"/>
                </a:solidFill>
                <a:latin typeface="Times New Roman" panose="02020603050405020304" pitchFamily="18" charset="0"/>
                <a:cs typeface="Times New Roman" panose="02020603050405020304" pitchFamily="18" charset="0"/>
              </a:rPr>
              <a:t>THANK</a:t>
            </a:r>
            <a:r>
              <a:rPr lang="en-US" sz="8000" b="1" dirty="0">
                <a:ln w="12700">
                  <a:solidFill>
                    <a:schemeClr val="accent1"/>
                  </a:solidFill>
                  <a:prstDash val="solid"/>
                </a:ln>
                <a:pattFill prst="ltDnDiag">
                  <a:fgClr>
                    <a:srgbClr val="00B0F0"/>
                  </a:fgClr>
                  <a:bgClr>
                    <a:schemeClr val="accent1">
                      <a:lumMod val="20000"/>
                      <a:lumOff val="80000"/>
                    </a:schemeClr>
                  </a:bgClr>
                </a:pattFill>
                <a:latin typeface="Times New Roman" panose="02020603050405020304" pitchFamily="18" charset="0"/>
                <a:cs typeface="Times New Roman" panose="02020603050405020304" pitchFamily="18" charset="0"/>
              </a:rPr>
              <a:t> </a:t>
            </a:r>
            <a:r>
              <a:rPr lang="en-US" sz="8000" b="1" dirty="0">
                <a:ln w="12700">
                  <a:solidFill>
                    <a:schemeClr val="bg2"/>
                  </a:solidFill>
                  <a:prstDash val="solid"/>
                </a:ln>
                <a:solidFill>
                  <a:schemeClr val="bg2"/>
                </a:solidFill>
                <a:latin typeface="Times New Roman" panose="02020603050405020304" pitchFamily="18" charset="0"/>
                <a:cs typeface="Times New Roman" panose="02020603050405020304" pitchFamily="18" charset="0"/>
              </a:rPr>
              <a:t>YOU</a:t>
            </a:r>
          </a:p>
        </p:txBody>
      </p:sp>
    </p:spTree>
    <p:extLst>
      <p:ext uri="{BB962C8B-B14F-4D97-AF65-F5344CB8AC3E}">
        <p14:creationId xmlns:p14="http://schemas.microsoft.com/office/powerpoint/2010/main" val="80746852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libri">
      <a:maj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libri">
      <a:maj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VSO_x0020_item_x0020_id xmlns="40262f94-9f35-4ac3-9a90-690165a166b7" xsi:nil="true"/>
    <Assetid_x0020_ xmlns="40262f94-9f35-4ac3-9a90-690165a166b7" xsi:nil="true"/>
    <Item_x0020_Details xmlns="40262f94-9f35-4ac3-9a90-690165a166b7" xsi:nil="true"/>
    <Template_x0020_details xmlns="40262f94-9f35-4ac3-9a90-690165a166b7"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A3F7D94069FF64A86F7DFF56D60E3BE" ma:contentTypeVersion="6" ma:contentTypeDescription="Create a new document." ma:contentTypeScope="" ma:versionID="c32302c77d4085ecf495bdddb7f5e889">
  <xsd:schema xmlns:xsd="http://www.w3.org/2001/XMLSchema" xmlns:xs="http://www.w3.org/2001/XMLSchema" xmlns:p="http://schemas.microsoft.com/office/2006/metadata/properties" xmlns:ns2="a4f35948-e619-41b3-aa29-22878b09cfd2" xmlns:ns3="40262f94-9f35-4ac3-9a90-690165a166b7" targetNamespace="http://schemas.microsoft.com/office/2006/metadata/properties" ma:root="true" ma:fieldsID="4ab5ae46be95f9d0be6107e8200be7a2" ns2:_="" ns3:_="">
    <xsd:import namespace="a4f35948-e619-41b3-aa29-22878b09cfd2"/>
    <xsd:import namespace="40262f94-9f35-4ac3-9a90-690165a166b7"/>
    <xsd:element name="properties">
      <xsd:complexType>
        <xsd:sequence>
          <xsd:element name="documentManagement">
            <xsd:complexType>
              <xsd:all>
                <xsd:element ref="ns2:SharedWithUsers" minOccurs="0"/>
                <xsd:element ref="ns2:SharedWithDetails" minOccurs="0"/>
                <xsd:element ref="ns3:VSO_x0020_item_x0020_id" minOccurs="0"/>
                <xsd:element ref="ns3:Item_x0020_Details" minOccurs="0"/>
                <xsd:element ref="ns3:Template_x0020_details" minOccurs="0"/>
                <xsd:element ref="ns3:Assetid_x0020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f35948-e619-41b3-aa29-22878b09cfd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0262f94-9f35-4ac3-9a90-690165a166b7" elementFormDefault="qualified">
    <xsd:import namespace="http://schemas.microsoft.com/office/2006/documentManagement/types"/>
    <xsd:import namespace="http://schemas.microsoft.com/office/infopath/2007/PartnerControls"/>
    <xsd:element name="VSO_x0020_item_x0020_id" ma:index="10" nillable="true" ma:displayName="VSO item id" ma:description="Please add the bug number to refer to VSO items." ma:internalName="VSO_x0020_item_x0020_id">
      <xsd:simpleType>
        <xsd:restriction base="dms:Text">
          <xsd:maxLength value="255"/>
        </xsd:restriction>
      </xsd:simpleType>
    </xsd:element>
    <xsd:element name="Item_x0020_Details" ma:index="11" nillable="true" ma:displayName="Item Details" ma:internalName="Item_x0020_Details">
      <xsd:simpleType>
        <xsd:restriction base="dms:Note">
          <xsd:maxLength value="255"/>
        </xsd:restriction>
      </xsd:simpleType>
    </xsd:element>
    <xsd:element name="Template_x0020_details" ma:index="12" nillable="true" ma:displayName="Template details" ma:internalName="Template_x0020_details">
      <xsd:simpleType>
        <xsd:restriction base="dms:Text"/>
      </xsd:simpleType>
    </xsd:element>
    <xsd:element name="Assetid_x0020_" ma:index="13" nillable="true" ma:displayName="Assetid " ma:internalName="Assetid_x0020_">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A1BD8E5-A18E-435C-B431-90A6B59F4B6F}">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40262f94-9f35-4ac3-9a90-690165a166b7"/>
    <ds:schemaRef ds:uri="a4f35948-e619-41b3-aa29-22878b09cfd2"/>
    <ds:schemaRef ds:uri="http://www.w3.org/XML/1998/namespace"/>
    <ds:schemaRef ds:uri="http://purl.org/dc/dcmitype/"/>
  </ds:schemaRefs>
</ds:datastoreItem>
</file>

<file path=customXml/itemProps2.xml><?xml version="1.0" encoding="utf-8"?>
<ds:datastoreItem xmlns:ds="http://schemas.openxmlformats.org/officeDocument/2006/customXml" ds:itemID="{4BEBB951-DE64-4CB8-9E1C-184A357AD7F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f35948-e619-41b3-aa29-22878b09cfd2"/>
    <ds:schemaRef ds:uri="40262f94-9f35-4ac3-9a90-690165a166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EEE0F9-7BC9-4998-8617-7CC115AD97E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TM04033929[[fn=Slate]]</Template>
  <TotalTime>1169</TotalTime>
  <Words>1332</Words>
  <Application>Microsoft Office PowerPoint</Application>
  <PresentationFormat>Widescreen</PresentationFormat>
  <Paragraphs>167</Paragraphs>
  <Slides>33</Slides>
  <Notes>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33</vt:i4>
      </vt:variant>
    </vt:vector>
  </HeadingPairs>
  <TitlesOfParts>
    <vt:vector size="44" baseType="lpstr">
      <vt:lpstr>Algerian</vt:lpstr>
      <vt:lpstr>Aptos Display</vt:lpstr>
      <vt:lpstr>Arial</vt:lpstr>
      <vt:lpstr>Arial Black</vt:lpstr>
      <vt:lpstr>Arial MT</vt:lpstr>
      <vt:lpstr>Calibri</vt:lpstr>
      <vt:lpstr>Calisto MT</vt:lpstr>
      <vt:lpstr>Times New Roman</vt:lpstr>
      <vt:lpstr>Wingdings</vt:lpstr>
      <vt:lpstr>Wingdings 2</vt:lpstr>
      <vt:lpstr>Slate</vt:lpstr>
      <vt:lpstr>Malicious URL Detection  Using Machine Learning Techniques</vt:lpstr>
      <vt:lpstr>PowerPoint Presentation</vt:lpstr>
      <vt:lpstr>PowerPoint Presentation</vt:lpstr>
      <vt:lpstr>PowerPoint Presentation</vt:lpstr>
      <vt:lpstr>PowerPoint Presentation</vt:lpstr>
      <vt:lpstr>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Use case Diagram</vt:lpstr>
      <vt:lpstr>PowerPoint Presentation</vt:lpstr>
      <vt:lpstr>Sequence Diagram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Test Cases</vt:lpstr>
      <vt:lpstr>Output Screens</vt:lpstr>
      <vt:lpstr>PowerPoint Presentation</vt:lpstr>
      <vt:lpstr>PowerPoint Presentation</vt:lpstr>
      <vt:lpstr>PowerPoint Presentation</vt:lpstr>
      <vt:lpstr>Conclusion</vt:lpstr>
      <vt:lpstr>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Malicious URL Detection  Using Machine Learning Techniques</dc:title>
  <dc:creator>shaik Kalamuddin</dc:creator>
  <cp:lastModifiedBy>B LAHARI</cp:lastModifiedBy>
  <cp:revision>14</cp:revision>
  <dcterms:created xsi:type="dcterms:W3CDTF">2025-01-19T15:27:36Z</dcterms:created>
  <dcterms:modified xsi:type="dcterms:W3CDTF">2026-07-30T10:23:07Z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74067900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